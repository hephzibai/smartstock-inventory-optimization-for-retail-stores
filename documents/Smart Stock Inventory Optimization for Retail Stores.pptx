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8"/>
  </p:notesMasterIdLst>
  <p:handoutMasterIdLst>
    <p:handoutMasterId r:id="rId19"/>
  </p:handout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  <p:sldId id="265" r:id="rId12"/>
    <p:sldId id="264" r:id="rId13"/>
    <p:sldId id="266" r:id="rId14"/>
    <p:sldId id="268" r:id="rId15"/>
    <p:sldId id="267" r:id="rId16"/>
    <p:sldId id="26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8" autoAdjust="0"/>
    <p:restoredTop sz="94704" autoAdjust="0"/>
  </p:normalViewPr>
  <p:slideViewPr>
    <p:cSldViewPr snapToGrid="0">
      <p:cViewPr varScale="1">
        <p:scale>
          <a:sx n="47" d="100"/>
          <a:sy n="47" d="100"/>
        </p:scale>
        <p:origin x="53" y="7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79" d="100"/>
          <a:sy n="79" d="100"/>
        </p:scale>
        <p:origin x="2346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42E7D57-FF30-4066-A113-FCED6D806FB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D5F4A26-1C76-4A7F-930D-0B2EE8CB5A24}">
      <dgm:prSet phldrT="[Text]"/>
      <dgm:spPr/>
      <dgm:t>
        <a:bodyPr/>
        <a:lstStyle/>
        <a:p>
          <a:r>
            <a:rPr lang="en-US" dirty="0"/>
            <a:t>Login page</a:t>
          </a:r>
        </a:p>
      </dgm:t>
      <dgm:extLst>
        <a:ext uri="{E40237B7-FDA0-4F09-8148-C483321AD2D9}">
          <dgm14:cNvPr xmlns:dgm14="http://schemas.microsoft.com/office/drawing/2010/diagram" id="0" name="" title="Group A heading"/>
        </a:ext>
      </dgm:extLst>
    </dgm:pt>
    <dgm:pt modelId="{E1D094F8-E721-4D3A-94BD-42021134B10D}" type="parTrans" cxnId="{FD3BDC87-ABC4-415A-BA00-3B1A44CE60DB}">
      <dgm:prSet/>
      <dgm:spPr/>
      <dgm:t>
        <a:bodyPr/>
        <a:lstStyle/>
        <a:p>
          <a:endParaRPr lang="en-US"/>
        </a:p>
      </dgm:t>
    </dgm:pt>
    <dgm:pt modelId="{30219927-95FE-489B-9532-820F85DCB012}" type="sibTrans" cxnId="{FD3BDC87-ABC4-415A-BA00-3B1A44CE60DB}">
      <dgm:prSet/>
      <dgm:spPr/>
      <dgm:t>
        <a:bodyPr/>
        <a:lstStyle/>
        <a:p>
          <a:endParaRPr lang="en-US"/>
        </a:p>
      </dgm:t>
    </dgm:pt>
    <dgm:pt modelId="{11966083-172A-4D0B-AF10-414DEEF45F7D}">
      <dgm:prSet phldrT="[Text]"/>
      <dgm:spPr/>
      <dgm:t>
        <a:bodyPr/>
        <a:lstStyle/>
        <a:p>
          <a:r>
            <a:rPr lang="en-US" dirty="0"/>
            <a:t>Dashboard page</a:t>
          </a:r>
        </a:p>
      </dgm:t>
      <dgm:extLst>
        <a:ext uri="{E40237B7-FDA0-4F09-8148-C483321AD2D9}">
          <dgm14:cNvPr xmlns:dgm14="http://schemas.microsoft.com/office/drawing/2010/diagram" id="0" name="" title="Group B heading"/>
        </a:ext>
      </dgm:extLst>
    </dgm:pt>
    <dgm:pt modelId="{E8DAA823-B561-4ADE-82C7-60D03B9AA779}" type="parTrans" cxnId="{25F2E8DC-9CDC-472C-9DED-8BD0F432FA20}">
      <dgm:prSet/>
      <dgm:spPr/>
      <dgm:t>
        <a:bodyPr/>
        <a:lstStyle/>
        <a:p>
          <a:endParaRPr lang="en-US"/>
        </a:p>
      </dgm:t>
    </dgm:pt>
    <dgm:pt modelId="{0EDF481E-952B-4A6D-9B47-C5DF0C9FD933}" type="sibTrans" cxnId="{25F2E8DC-9CDC-472C-9DED-8BD0F432FA20}">
      <dgm:prSet/>
      <dgm:spPr/>
      <dgm:t>
        <a:bodyPr/>
        <a:lstStyle/>
        <a:p>
          <a:endParaRPr lang="en-US"/>
        </a:p>
      </dgm:t>
    </dgm:pt>
    <dgm:pt modelId="{AB0B3541-2BBF-43CD-8973-113F1D086578}">
      <dgm:prSet phldrT="[Text]"/>
      <dgm:spPr/>
      <dgm:t>
        <a:bodyPr/>
        <a:lstStyle/>
        <a:p>
          <a:r>
            <a:rPr lang="en-US" dirty="0"/>
            <a:t>Provides a quick overview of inventory status using cards and charts shows metrics like products, low stock items, and predictions summary</a:t>
          </a:r>
        </a:p>
      </dgm:t>
      <dgm:extLst>
        <a:ext uri="{E40237B7-FDA0-4F09-8148-C483321AD2D9}">
          <dgm14:cNvPr xmlns:dgm14="http://schemas.microsoft.com/office/drawing/2010/diagram" id="0" name="" title="Group B tasks"/>
        </a:ext>
      </dgm:extLst>
    </dgm:pt>
    <dgm:pt modelId="{C2F69FEA-9A42-48F9-AF5D-79B760DCBD5A}" type="parTrans" cxnId="{10E5E320-2EED-4036-A1B3-33F113D3F661}">
      <dgm:prSet/>
      <dgm:spPr/>
      <dgm:t>
        <a:bodyPr/>
        <a:lstStyle/>
        <a:p>
          <a:endParaRPr lang="en-US"/>
        </a:p>
      </dgm:t>
    </dgm:pt>
    <dgm:pt modelId="{DDFF4DC4-F30A-4AC1-A79B-6D18010A8D99}" type="sibTrans" cxnId="{10E5E320-2EED-4036-A1B3-33F113D3F661}">
      <dgm:prSet/>
      <dgm:spPr/>
      <dgm:t>
        <a:bodyPr/>
        <a:lstStyle/>
        <a:p>
          <a:endParaRPr lang="en-US"/>
        </a:p>
      </dgm:t>
    </dgm:pt>
    <dgm:pt modelId="{769831B2-FFE1-4BB5-8CB7-C06F8038B582}">
      <dgm:prSet phldrT="[Text]"/>
      <dgm:spPr/>
      <dgm:t>
        <a:bodyPr/>
        <a:lstStyle/>
        <a:p>
          <a:r>
            <a:rPr lang="en-US" dirty="0"/>
            <a:t>Products page</a:t>
          </a:r>
        </a:p>
      </dgm:t>
      <dgm:extLst>
        <a:ext uri="{E40237B7-FDA0-4F09-8148-C483321AD2D9}">
          <dgm14:cNvPr xmlns:dgm14="http://schemas.microsoft.com/office/drawing/2010/diagram" id="0" name="" title="Group C heading"/>
        </a:ext>
      </dgm:extLst>
    </dgm:pt>
    <dgm:pt modelId="{139F5F79-E65B-403D-9ABA-7832A1750A37}" type="parTrans" cxnId="{0581BFD0-4FB2-44E7-8E31-728CD0D4AD3F}">
      <dgm:prSet/>
      <dgm:spPr/>
      <dgm:t>
        <a:bodyPr/>
        <a:lstStyle/>
        <a:p>
          <a:endParaRPr lang="en-US"/>
        </a:p>
      </dgm:t>
    </dgm:pt>
    <dgm:pt modelId="{A6345A9F-C029-4E00-A73B-9276DB58BCBA}" type="sibTrans" cxnId="{0581BFD0-4FB2-44E7-8E31-728CD0D4AD3F}">
      <dgm:prSet/>
      <dgm:spPr/>
      <dgm:t>
        <a:bodyPr/>
        <a:lstStyle/>
        <a:p>
          <a:endParaRPr lang="en-US"/>
        </a:p>
      </dgm:t>
    </dgm:pt>
    <dgm:pt modelId="{8B77A199-5E32-4693-9AF2-3E5612DD843F}">
      <dgm:prSet phldrT="[Text]"/>
      <dgm:spPr/>
      <dgm:t>
        <a:bodyPr/>
        <a:lstStyle/>
        <a:p>
          <a:r>
            <a:rPr lang="en-US" dirty="0"/>
            <a:t>Displays all products in a table with search and filter options. Allows users to view, edit, or delete existing product entries</a:t>
          </a:r>
        </a:p>
      </dgm:t>
      <dgm:extLst>
        <a:ext uri="{E40237B7-FDA0-4F09-8148-C483321AD2D9}">
          <dgm14:cNvPr xmlns:dgm14="http://schemas.microsoft.com/office/drawing/2010/diagram" id="0" name="" title="Group C tasks"/>
        </a:ext>
      </dgm:extLst>
    </dgm:pt>
    <dgm:pt modelId="{98D80E72-9FB4-4564-AECE-FE7F5925C3BB}" type="parTrans" cxnId="{DFB14471-E5AF-4D5E-BA32-B368CBD38603}">
      <dgm:prSet/>
      <dgm:spPr/>
      <dgm:t>
        <a:bodyPr/>
        <a:lstStyle/>
        <a:p>
          <a:endParaRPr lang="en-US"/>
        </a:p>
      </dgm:t>
    </dgm:pt>
    <dgm:pt modelId="{3FBCC32A-83FB-4087-96B4-AFEB52FDF290}" type="sibTrans" cxnId="{DFB14471-E5AF-4D5E-BA32-B368CBD38603}">
      <dgm:prSet/>
      <dgm:spPr/>
      <dgm:t>
        <a:bodyPr/>
        <a:lstStyle/>
        <a:p>
          <a:endParaRPr lang="en-US"/>
        </a:p>
      </dgm:t>
    </dgm:pt>
    <dgm:pt modelId="{CA5E69B5-37AD-426D-ADCE-4496C7EE6106}">
      <dgm:prSet phldrT="[Text]"/>
      <dgm:spPr/>
      <dgm:t>
        <a:bodyPr/>
        <a:lstStyle/>
        <a:p>
          <a:pPr>
            <a:buNone/>
          </a:pPr>
          <a:r>
            <a:rPr lang="en-US" dirty="0"/>
            <a:t>A simple and clean interface for users to access the system. Validates user credentials before entering the dashboard</a:t>
          </a:r>
        </a:p>
      </dgm:t>
      <dgm:extLst>
        <a:ext uri="{E40237B7-FDA0-4F09-8148-C483321AD2D9}">
          <dgm14:cNvPr xmlns:dgm14="http://schemas.microsoft.com/office/drawing/2010/diagram" id="0" name="" title="Group A tasks"/>
        </a:ext>
      </dgm:extLst>
    </dgm:pt>
    <dgm:pt modelId="{5F3DC056-5744-4814-96CE-D76E13314AB7}" type="parTrans" cxnId="{62A83A6B-70FB-4943-8FFD-BE2181EF5C78}">
      <dgm:prSet/>
      <dgm:spPr/>
      <dgm:t>
        <a:bodyPr/>
        <a:lstStyle/>
        <a:p>
          <a:endParaRPr lang="en-US"/>
        </a:p>
      </dgm:t>
    </dgm:pt>
    <dgm:pt modelId="{BDED456A-5607-4183-AD54-919BA3E602A1}" type="sibTrans" cxnId="{62A83A6B-70FB-4943-8FFD-BE2181EF5C78}">
      <dgm:prSet/>
      <dgm:spPr/>
      <dgm:t>
        <a:bodyPr/>
        <a:lstStyle/>
        <a:p>
          <a:endParaRPr lang="en-US"/>
        </a:p>
      </dgm:t>
    </dgm:pt>
    <dgm:pt modelId="{51D69D75-5512-4AD0-8E47-BB1C2DF71FCE}" type="pres">
      <dgm:prSet presAssocID="{242E7D57-FF30-4066-A113-FCED6D806FB1}" presName="linear" presStyleCnt="0">
        <dgm:presLayoutVars>
          <dgm:animLvl val="lvl"/>
          <dgm:resizeHandles val="exact"/>
        </dgm:presLayoutVars>
      </dgm:prSet>
      <dgm:spPr/>
    </dgm:pt>
    <dgm:pt modelId="{F5B6879E-6B01-4372-87ED-8E65C4103127}" type="pres">
      <dgm:prSet presAssocID="{7D5F4A26-1C76-4A7F-930D-0B2EE8CB5A2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D069A05-A95A-4125-9ED6-6E3191FF5531}" type="pres">
      <dgm:prSet presAssocID="{7D5F4A26-1C76-4A7F-930D-0B2EE8CB5A24}" presName="childText" presStyleLbl="revTx" presStyleIdx="0" presStyleCnt="3">
        <dgm:presLayoutVars>
          <dgm:bulletEnabled val="1"/>
        </dgm:presLayoutVars>
      </dgm:prSet>
      <dgm:spPr/>
    </dgm:pt>
    <dgm:pt modelId="{931DCB45-6C6F-4887-A45B-553F0F0AB816}" type="pres">
      <dgm:prSet presAssocID="{11966083-172A-4D0B-AF10-414DEEF45F7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EFAA2E6-5811-4032-B7E7-410E211A574F}" type="pres">
      <dgm:prSet presAssocID="{11966083-172A-4D0B-AF10-414DEEF45F7D}" presName="childText" presStyleLbl="revTx" presStyleIdx="1" presStyleCnt="3">
        <dgm:presLayoutVars>
          <dgm:bulletEnabled val="1"/>
        </dgm:presLayoutVars>
      </dgm:prSet>
      <dgm:spPr/>
    </dgm:pt>
    <dgm:pt modelId="{49D8221D-5689-41C8-9547-6ED636FDA9CB}" type="pres">
      <dgm:prSet presAssocID="{769831B2-FFE1-4BB5-8CB7-C06F8038B582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255D37AE-E663-42AC-BA43-052337C9F108}" type="pres">
      <dgm:prSet presAssocID="{769831B2-FFE1-4BB5-8CB7-C06F8038B582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2038C41D-C93C-4A10-8284-7FCC45E53DAE}" type="presOf" srcId="{769831B2-FFE1-4BB5-8CB7-C06F8038B582}" destId="{49D8221D-5689-41C8-9547-6ED636FDA9CB}" srcOrd="0" destOrd="0" presId="urn:microsoft.com/office/officeart/2005/8/layout/vList2"/>
    <dgm:cxn modelId="{D230DA20-1778-4BFA-8DCC-3353E8422A06}" type="presOf" srcId="{CA5E69B5-37AD-426D-ADCE-4496C7EE6106}" destId="{0D069A05-A95A-4125-9ED6-6E3191FF5531}" srcOrd="0" destOrd="0" presId="urn:microsoft.com/office/officeart/2005/8/layout/vList2"/>
    <dgm:cxn modelId="{10E5E320-2EED-4036-A1B3-33F113D3F661}" srcId="{11966083-172A-4D0B-AF10-414DEEF45F7D}" destId="{AB0B3541-2BBF-43CD-8973-113F1D086578}" srcOrd="0" destOrd="0" parTransId="{C2F69FEA-9A42-48F9-AF5D-79B760DCBD5A}" sibTransId="{DDFF4DC4-F30A-4AC1-A79B-6D18010A8D99}"/>
    <dgm:cxn modelId="{0BBAC731-8B46-4D83-8638-810A71221311}" type="presOf" srcId="{8B77A199-5E32-4693-9AF2-3E5612DD843F}" destId="{255D37AE-E663-42AC-BA43-052337C9F108}" srcOrd="0" destOrd="0" presId="urn:microsoft.com/office/officeart/2005/8/layout/vList2"/>
    <dgm:cxn modelId="{62A83A6B-70FB-4943-8FFD-BE2181EF5C78}" srcId="{7D5F4A26-1C76-4A7F-930D-0B2EE8CB5A24}" destId="{CA5E69B5-37AD-426D-ADCE-4496C7EE6106}" srcOrd="0" destOrd="0" parTransId="{5F3DC056-5744-4814-96CE-D76E13314AB7}" sibTransId="{BDED456A-5607-4183-AD54-919BA3E602A1}"/>
    <dgm:cxn modelId="{DFB14471-E5AF-4D5E-BA32-B368CBD38603}" srcId="{769831B2-FFE1-4BB5-8CB7-C06F8038B582}" destId="{8B77A199-5E32-4693-9AF2-3E5612DD843F}" srcOrd="0" destOrd="0" parTransId="{98D80E72-9FB4-4564-AECE-FE7F5925C3BB}" sibTransId="{3FBCC32A-83FB-4087-96B4-AFEB52FDF290}"/>
    <dgm:cxn modelId="{E360C557-EF56-4C82-B73B-BA47D7760250}" type="presOf" srcId="{242E7D57-FF30-4066-A113-FCED6D806FB1}" destId="{51D69D75-5512-4AD0-8E47-BB1C2DF71FCE}" srcOrd="0" destOrd="0" presId="urn:microsoft.com/office/officeart/2005/8/layout/vList2"/>
    <dgm:cxn modelId="{FD3BDC87-ABC4-415A-BA00-3B1A44CE60DB}" srcId="{242E7D57-FF30-4066-A113-FCED6D806FB1}" destId="{7D5F4A26-1C76-4A7F-930D-0B2EE8CB5A24}" srcOrd="0" destOrd="0" parTransId="{E1D094F8-E721-4D3A-94BD-42021134B10D}" sibTransId="{30219927-95FE-489B-9532-820F85DCB012}"/>
    <dgm:cxn modelId="{74FB02CA-F288-4078-819D-99429BCAAC9E}" type="presOf" srcId="{AB0B3541-2BBF-43CD-8973-113F1D086578}" destId="{BEFAA2E6-5811-4032-B7E7-410E211A574F}" srcOrd="0" destOrd="0" presId="urn:microsoft.com/office/officeart/2005/8/layout/vList2"/>
    <dgm:cxn modelId="{0581BFD0-4FB2-44E7-8E31-728CD0D4AD3F}" srcId="{242E7D57-FF30-4066-A113-FCED6D806FB1}" destId="{769831B2-FFE1-4BB5-8CB7-C06F8038B582}" srcOrd="2" destOrd="0" parTransId="{139F5F79-E65B-403D-9ABA-7832A1750A37}" sibTransId="{A6345A9F-C029-4E00-A73B-9276DB58BCBA}"/>
    <dgm:cxn modelId="{25F2E8DC-9CDC-472C-9DED-8BD0F432FA20}" srcId="{242E7D57-FF30-4066-A113-FCED6D806FB1}" destId="{11966083-172A-4D0B-AF10-414DEEF45F7D}" srcOrd="1" destOrd="0" parTransId="{E8DAA823-B561-4ADE-82C7-60D03B9AA779}" sibTransId="{0EDF481E-952B-4A6D-9B47-C5DF0C9FD933}"/>
    <dgm:cxn modelId="{138B6CE2-7D0C-4297-9A33-E1D4AF902589}" type="presOf" srcId="{7D5F4A26-1C76-4A7F-930D-0B2EE8CB5A24}" destId="{F5B6879E-6B01-4372-87ED-8E65C4103127}" srcOrd="0" destOrd="0" presId="urn:microsoft.com/office/officeart/2005/8/layout/vList2"/>
    <dgm:cxn modelId="{C70C31EB-9853-465C-8181-8E84C1BEA95E}" type="presOf" srcId="{11966083-172A-4D0B-AF10-414DEEF45F7D}" destId="{931DCB45-6C6F-4887-A45B-553F0F0AB816}" srcOrd="0" destOrd="0" presId="urn:microsoft.com/office/officeart/2005/8/layout/vList2"/>
    <dgm:cxn modelId="{056498D1-0843-48D9-8898-A1305000B4CF}" type="presParOf" srcId="{51D69D75-5512-4AD0-8E47-BB1C2DF71FCE}" destId="{F5B6879E-6B01-4372-87ED-8E65C4103127}" srcOrd="0" destOrd="0" presId="urn:microsoft.com/office/officeart/2005/8/layout/vList2"/>
    <dgm:cxn modelId="{5AC88CAF-8B07-4990-8FB4-E62B4C0F4525}" type="presParOf" srcId="{51D69D75-5512-4AD0-8E47-BB1C2DF71FCE}" destId="{0D069A05-A95A-4125-9ED6-6E3191FF5531}" srcOrd="1" destOrd="0" presId="urn:microsoft.com/office/officeart/2005/8/layout/vList2"/>
    <dgm:cxn modelId="{4AAEEB3C-BFC0-49E9-877B-83A93E8A0978}" type="presParOf" srcId="{51D69D75-5512-4AD0-8E47-BB1C2DF71FCE}" destId="{931DCB45-6C6F-4887-A45B-553F0F0AB816}" srcOrd="2" destOrd="0" presId="urn:microsoft.com/office/officeart/2005/8/layout/vList2"/>
    <dgm:cxn modelId="{3E754164-B33B-42D8-ABBC-310CFF557430}" type="presParOf" srcId="{51D69D75-5512-4AD0-8E47-BB1C2DF71FCE}" destId="{BEFAA2E6-5811-4032-B7E7-410E211A574F}" srcOrd="3" destOrd="0" presId="urn:microsoft.com/office/officeart/2005/8/layout/vList2"/>
    <dgm:cxn modelId="{B1530764-7328-4016-832D-8E8683FE7453}" type="presParOf" srcId="{51D69D75-5512-4AD0-8E47-BB1C2DF71FCE}" destId="{49D8221D-5689-41C8-9547-6ED636FDA9CB}" srcOrd="4" destOrd="0" presId="urn:microsoft.com/office/officeart/2005/8/layout/vList2"/>
    <dgm:cxn modelId="{84C21D39-AA8F-482C-8192-F328D73CB15D}" type="presParOf" srcId="{51D69D75-5512-4AD0-8E47-BB1C2DF71FCE}" destId="{255D37AE-E663-42AC-BA43-052337C9F108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42E7D57-FF30-4066-A113-FCED6D806FB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D5F4A26-1C76-4A7F-930D-0B2EE8CB5A24}">
      <dgm:prSet phldrT="[Text]"/>
      <dgm:spPr/>
      <dgm:t>
        <a:bodyPr/>
        <a:lstStyle/>
        <a:p>
          <a:r>
            <a:rPr lang="en-US" dirty="0"/>
            <a:t>Add product page</a:t>
          </a:r>
        </a:p>
      </dgm:t>
      <dgm:extLst>
        <a:ext uri="{E40237B7-FDA0-4F09-8148-C483321AD2D9}">
          <dgm14:cNvPr xmlns:dgm14="http://schemas.microsoft.com/office/drawing/2010/diagram" id="0" name="" title="Group A heading"/>
        </a:ext>
      </dgm:extLst>
    </dgm:pt>
    <dgm:pt modelId="{E1D094F8-E721-4D3A-94BD-42021134B10D}" type="parTrans" cxnId="{FD3BDC87-ABC4-415A-BA00-3B1A44CE60DB}">
      <dgm:prSet/>
      <dgm:spPr/>
      <dgm:t>
        <a:bodyPr/>
        <a:lstStyle/>
        <a:p>
          <a:endParaRPr lang="en-US"/>
        </a:p>
      </dgm:t>
    </dgm:pt>
    <dgm:pt modelId="{30219927-95FE-489B-9532-820F85DCB012}" type="sibTrans" cxnId="{FD3BDC87-ABC4-415A-BA00-3B1A44CE60DB}">
      <dgm:prSet/>
      <dgm:spPr/>
      <dgm:t>
        <a:bodyPr/>
        <a:lstStyle/>
        <a:p>
          <a:endParaRPr lang="en-US"/>
        </a:p>
      </dgm:t>
    </dgm:pt>
    <dgm:pt modelId="{CA5E69B5-37AD-426D-ADCE-4496C7EE6106}">
      <dgm:prSet phldrT="[Text]"/>
      <dgm:spPr/>
      <dgm:t>
        <a:bodyPr/>
        <a:lstStyle/>
        <a:p>
          <a:r>
            <a:rPr lang="en-US" dirty="0"/>
            <a:t>A form-based page to add new product details into the inventory helps maintain updated stock and product information </a:t>
          </a:r>
        </a:p>
      </dgm:t>
      <dgm:extLst>
        <a:ext uri="{E40237B7-FDA0-4F09-8148-C483321AD2D9}">
          <dgm14:cNvPr xmlns:dgm14="http://schemas.microsoft.com/office/drawing/2010/diagram" id="0" name="" title="Group A tasks"/>
        </a:ext>
      </dgm:extLst>
    </dgm:pt>
    <dgm:pt modelId="{5F3DC056-5744-4814-96CE-D76E13314AB7}" type="parTrans" cxnId="{B02CAB33-5ED4-47E4-81C9-EBA23D8E48FE}">
      <dgm:prSet/>
      <dgm:spPr/>
      <dgm:t>
        <a:bodyPr/>
        <a:lstStyle/>
        <a:p>
          <a:endParaRPr lang="en-US"/>
        </a:p>
      </dgm:t>
    </dgm:pt>
    <dgm:pt modelId="{BDED456A-5607-4183-AD54-919BA3E602A1}" type="sibTrans" cxnId="{B02CAB33-5ED4-47E4-81C9-EBA23D8E48FE}">
      <dgm:prSet/>
      <dgm:spPr/>
      <dgm:t>
        <a:bodyPr/>
        <a:lstStyle/>
        <a:p>
          <a:endParaRPr lang="en-US"/>
        </a:p>
      </dgm:t>
    </dgm:pt>
    <dgm:pt modelId="{11966083-172A-4D0B-AF10-414DEEF45F7D}">
      <dgm:prSet phldrT="[Text]"/>
      <dgm:spPr/>
      <dgm:t>
        <a:bodyPr/>
        <a:lstStyle/>
        <a:p>
          <a:r>
            <a:rPr lang="en-US" dirty="0"/>
            <a:t>Edit product page</a:t>
          </a:r>
        </a:p>
      </dgm:t>
      <dgm:extLst>
        <a:ext uri="{E40237B7-FDA0-4F09-8148-C483321AD2D9}">
          <dgm14:cNvPr xmlns:dgm14="http://schemas.microsoft.com/office/drawing/2010/diagram" id="0" name="" title="Group B heading"/>
        </a:ext>
      </dgm:extLst>
    </dgm:pt>
    <dgm:pt modelId="{E8DAA823-B561-4ADE-82C7-60D03B9AA779}" type="parTrans" cxnId="{25F2E8DC-9CDC-472C-9DED-8BD0F432FA20}">
      <dgm:prSet/>
      <dgm:spPr/>
      <dgm:t>
        <a:bodyPr/>
        <a:lstStyle/>
        <a:p>
          <a:endParaRPr lang="en-US"/>
        </a:p>
      </dgm:t>
    </dgm:pt>
    <dgm:pt modelId="{0EDF481E-952B-4A6D-9B47-C5DF0C9FD933}" type="sibTrans" cxnId="{25F2E8DC-9CDC-472C-9DED-8BD0F432FA20}">
      <dgm:prSet/>
      <dgm:spPr/>
      <dgm:t>
        <a:bodyPr/>
        <a:lstStyle/>
        <a:p>
          <a:endParaRPr lang="en-US"/>
        </a:p>
      </dgm:t>
    </dgm:pt>
    <dgm:pt modelId="{AB0B3541-2BBF-43CD-8973-113F1D086578}">
      <dgm:prSet phldrT="[Text]"/>
      <dgm:spPr/>
      <dgm:t>
        <a:bodyPr/>
        <a:lstStyle/>
        <a:p>
          <a:r>
            <a:rPr lang="en-US" dirty="0"/>
            <a:t>Used to modify existing product data such as price, stock, and category ensures product information remains accurate over time</a:t>
          </a:r>
        </a:p>
      </dgm:t>
      <dgm:extLst>
        <a:ext uri="{E40237B7-FDA0-4F09-8148-C483321AD2D9}">
          <dgm14:cNvPr xmlns:dgm14="http://schemas.microsoft.com/office/drawing/2010/diagram" id="0" name="" title="Group B tasks"/>
        </a:ext>
      </dgm:extLst>
    </dgm:pt>
    <dgm:pt modelId="{C2F69FEA-9A42-48F9-AF5D-79B760DCBD5A}" type="parTrans" cxnId="{10E5E320-2EED-4036-A1B3-33F113D3F661}">
      <dgm:prSet/>
      <dgm:spPr/>
      <dgm:t>
        <a:bodyPr/>
        <a:lstStyle/>
        <a:p>
          <a:endParaRPr lang="en-US"/>
        </a:p>
      </dgm:t>
    </dgm:pt>
    <dgm:pt modelId="{DDFF4DC4-F30A-4AC1-A79B-6D18010A8D99}" type="sibTrans" cxnId="{10E5E320-2EED-4036-A1B3-33F113D3F661}">
      <dgm:prSet/>
      <dgm:spPr/>
      <dgm:t>
        <a:bodyPr/>
        <a:lstStyle/>
        <a:p>
          <a:endParaRPr lang="en-US"/>
        </a:p>
      </dgm:t>
    </dgm:pt>
    <dgm:pt modelId="{769831B2-FFE1-4BB5-8CB7-C06F8038B582}">
      <dgm:prSet phldrT="[Text]"/>
      <dgm:spPr/>
      <dgm:t>
        <a:bodyPr/>
        <a:lstStyle/>
        <a:p>
          <a:r>
            <a:rPr lang="en-US" dirty="0"/>
            <a:t>Predictions page</a:t>
          </a:r>
        </a:p>
      </dgm:t>
      <dgm:extLst>
        <a:ext uri="{E40237B7-FDA0-4F09-8148-C483321AD2D9}">
          <dgm14:cNvPr xmlns:dgm14="http://schemas.microsoft.com/office/drawing/2010/diagram" id="0" name="" title="Group C heading"/>
        </a:ext>
      </dgm:extLst>
    </dgm:pt>
    <dgm:pt modelId="{139F5F79-E65B-403D-9ABA-7832A1750A37}" type="parTrans" cxnId="{0581BFD0-4FB2-44E7-8E31-728CD0D4AD3F}">
      <dgm:prSet/>
      <dgm:spPr/>
      <dgm:t>
        <a:bodyPr/>
        <a:lstStyle/>
        <a:p>
          <a:endParaRPr lang="en-US"/>
        </a:p>
      </dgm:t>
    </dgm:pt>
    <dgm:pt modelId="{A6345A9F-C029-4E00-A73B-9276DB58BCBA}" type="sibTrans" cxnId="{0581BFD0-4FB2-44E7-8E31-728CD0D4AD3F}">
      <dgm:prSet/>
      <dgm:spPr/>
      <dgm:t>
        <a:bodyPr/>
        <a:lstStyle/>
        <a:p>
          <a:endParaRPr lang="en-US"/>
        </a:p>
      </dgm:t>
    </dgm:pt>
    <dgm:pt modelId="{8B77A199-5E32-4693-9AF2-3E5612DD843F}">
      <dgm:prSet phldrT="[Text]"/>
      <dgm:spPr/>
      <dgm:t>
        <a:bodyPr/>
        <a:lstStyle/>
        <a:p>
          <a:r>
            <a:rPr lang="en-US" dirty="0"/>
            <a:t>Shows future demand predications through charts and insight cards </a:t>
          </a:r>
          <a:r>
            <a:rPr lang="en-US" dirty="0" err="1"/>
            <a:t>recommendes</a:t>
          </a:r>
          <a:r>
            <a:rPr lang="en-US" dirty="0"/>
            <a:t> stock adjustments to avoid overstock and stockout situations</a:t>
          </a:r>
        </a:p>
      </dgm:t>
      <dgm:extLst>
        <a:ext uri="{E40237B7-FDA0-4F09-8148-C483321AD2D9}">
          <dgm14:cNvPr xmlns:dgm14="http://schemas.microsoft.com/office/drawing/2010/diagram" id="0" name="" title="Group C tasks"/>
        </a:ext>
      </dgm:extLst>
    </dgm:pt>
    <dgm:pt modelId="{98D80E72-9FB4-4564-AECE-FE7F5925C3BB}" type="parTrans" cxnId="{DFB14471-E5AF-4D5E-BA32-B368CBD38603}">
      <dgm:prSet/>
      <dgm:spPr/>
      <dgm:t>
        <a:bodyPr/>
        <a:lstStyle/>
        <a:p>
          <a:endParaRPr lang="en-US"/>
        </a:p>
      </dgm:t>
    </dgm:pt>
    <dgm:pt modelId="{3FBCC32A-83FB-4087-96B4-AFEB52FDF290}" type="sibTrans" cxnId="{DFB14471-E5AF-4D5E-BA32-B368CBD38603}">
      <dgm:prSet/>
      <dgm:spPr/>
      <dgm:t>
        <a:bodyPr/>
        <a:lstStyle/>
        <a:p>
          <a:endParaRPr lang="en-US"/>
        </a:p>
      </dgm:t>
    </dgm:pt>
    <dgm:pt modelId="{51D69D75-5512-4AD0-8E47-BB1C2DF71FCE}" type="pres">
      <dgm:prSet presAssocID="{242E7D57-FF30-4066-A113-FCED6D806FB1}" presName="linear" presStyleCnt="0">
        <dgm:presLayoutVars>
          <dgm:animLvl val="lvl"/>
          <dgm:resizeHandles val="exact"/>
        </dgm:presLayoutVars>
      </dgm:prSet>
      <dgm:spPr/>
    </dgm:pt>
    <dgm:pt modelId="{F5B6879E-6B01-4372-87ED-8E65C4103127}" type="pres">
      <dgm:prSet presAssocID="{7D5F4A26-1C76-4A7F-930D-0B2EE8CB5A2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D069A05-A95A-4125-9ED6-6E3191FF5531}" type="pres">
      <dgm:prSet presAssocID="{7D5F4A26-1C76-4A7F-930D-0B2EE8CB5A24}" presName="childText" presStyleLbl="revTx" presStyleIdx="0" presStyleCnt="3">
        <dgm:presLayoutVars>
          <dgm:bulletEnabled val="1"/>
        </dgm:presLayoutVars>
      </dgm:prSet>
      <dgm:spPr/>
    </dgm:pt>
    <dgm:pt modelId="{931DCB45-6C6F-4887-A45B-553F0F0AB816}" type="pres">
      <dgm:prSet presAssocID="{11966083-172A-4D0B-AF10-414DEEF45F7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EFAA2E6-5811-4032-B7E7-410E211A574F}" type="pres">
      <dgm:prSet presAssocID="{11966083-172A-4D0B-AF10-414DEEF45F7D}" presName="childText" presStyleLbl="revTx" presStyleIdx="1" presStyleCnt="3">
        <dgm:presLayoutVars>
          <dgm:bulletEnabled val="1"/>
        </dgm:presLayoutVars>
      </dgm:prSet>
      <dgm:spPr/>
    </dgm:pt>
    <dgm:pt modelId="{49D8221D-5689-41C8-9547-6ED636FDA9CB}" type="pres">
      <dgm:prSet presAssocID="{769831B2-FFE1-4BB5-8CB7-C06F8038B582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255D37AE-E663-42AC-BA43-052337C9F108}" type="pres">
      <dgm:prSet presAssocID="{769831B2-FFE1-4BB5-8CB7-C06F8038B582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7C24F61D-54EC-49F6-823C-C50A881816FF}" type="presOf" srcId="{11966083-172A-4D0B-AF10-414DEEF45F7D}" destId="{931DCB45-6C6F-4887-A45B-553F0F0AB816}" srcOrd="0" destOrd="0" presId="urn:microsoft.com/office/officeart/2005/8/layout/vList2"/>
    <dgm:cxn modelId="{10E5E320-2EED-4036-A1B3-33F113D3F661}" srcId="{11966083-172A-4D0B-AF10-414DEEF45F7D}" destId="{AB0B3541-2BBF-43CD-8973-113F1D086578}" srcOrd="0" destOrd="0" parTransId="{C2F69FEA-9A42-48F9-AF5D-79B760DCBD5A}" sibTransId="{DDFF4DC4-F30A-4AC1-A79B-6D18010A8D99}"/>
    <dgm:cxn modelId="{82F11721-0D61-4937-BA4A-1D7EB22A2848}" type="presOf" srcId="{7D5F4A26-1C76-4A7F-930D-0B2EE8CB5A24}" destId="{F5B6879E-6B01-4372-87ED-8E65C4103127}" srcOrd="0" destOrd="0" presId="urn:microsoft.com/office/officeart/2005/8/layout/vList2"/>
    <dgm:cxn modelId="{B02CAB33-5ED4-47E4-81C9-EBA23D8E48FE}" srcId="{7D5F4A26-1C76-4A7F-930D-0B2EE8CB5A24}" destId="{CA5E69B5-37AD-426D-ADCE-4496C7EE6106}" srcOrd="0" destOrd="0" parTransId="{5F3DC056-5744-4814-96CE-D76E13314AB7}" sibTransId="{BDED456A-5607-4183-AD54-919BA3E602A1}"/>
    <dgm:cxn modelId="{04B17A44-24B9-4C24-AC3B-0F6F0E8611AF}" type="presOf" srcId="{8B77A199-5E32-4693-9AF2-3E5612DD843F}" destId="{255D37AE-E663-42AC-BA43-052337C9F108}" srcOrd="0" destOrd="0" presId="urn:microsoft.com/office/officeart/2005/8/layout/vList2"/>
    <dgm:cxn modelId="{DFB14471-E5AF-4D5E-BA32-B368CBD38603}" srcId="{769831B2-FFE1-4BB5-8CB7-C06F8038B582}" destId="{8B77A199-5E32-4693-9AF2-3E5612DD843F}" srcOrd="0" destOrd="0" parTransId="{98D80E72-9FB4-4564-AECE-FE7F5925C3BB}" sibTransId="{3FBCC32A-83FB-4087-96B4-AFEB52FDF290}"/>
    <dgm:cxn modelId="{E360C557-EF56-4C82-B73B-BA47D7760250}" type="presOf" srcId="{242E7D57-FF30-4066-A113-FCED6D806FB1}" destId="{51D69D75-5512-4AD0-8E47-BB1C2DF71FCE}" srcOrd="0" destOrd="0" presId="urn:microsoft.com/office/officeart/2005/8/layout/vList2"/>
    <dgm:cxn modelId="{FD3BDC87-ABC4-415A-BA00-3B1A44CE60DB}" srcId="{242E7D57-FF30-4066-A113-FCED6D806FB1}" destId="{7D5F4A26-1C76-4A7F-930D-0B2EE8CB5A24}" srcOrd="0" destOrd="0" parTransId="{E1D094F8-E721-4D3A-94BD-42021134B10D}" sibTransId="{30219927-95FE-489B-9532-820F85DCB012}"/>
    <dgm:cxn modelId="{1AB3F5AD-B7AB-4FB8-8105-6EE45B14170D}" type="presOf" srcId="{AB0B3541-2BBF-43CD-8973-113F1D086578}" destId="{BEFAA2E6-5811-4032-B7E7-410E211A574F}" srcOrd="0" destOrd="0" presId="urn:microsoft.com/office/officeart/2005/8/layout/vList2"/>
    <dgm:cxn modelId="{7CAF95C5-A57D-4F7B-AF10-F557033BB226}" type="presOf" srcId="{CA5E69B5-37AD-426D-ADCE-4496C7EE6106}" destId="{0D069A05-A95A-4125-9ED6-6E3191FF5531}" srcOrd="0" destOrd="0" presId="urn:microsoft.com/office/officeart/2005/8/layout/vList2"/>
    <dgm:cxn modelId="{0581BFD0-4FB2-44E7-8E31-728CD0D4AD3F}" srcId="{242E7D57-FF30-4066-A113-FCED6D806FB1}" destId="{769831B2-FFE1-4BB5-8CB7-C06F8038B582}" srcOrd="2" destOrd="0" parTransId="{139F5F79-E65B-403D-9ABA-7832A1750A37}" sibTransId="{A6345A9F-C029-4E00-A73B-9276DB58BCBA}"/>
    <dgm:cxn modelId="{25F2E8DC-9CDC-472C-9DED-8BD0F432FA20}" srcId="{242E7D57-FF30-4066-A113-FCED6D806FB1}" destId="{11966083-172A-4D0B-AF10-414DEEF45F7D}" srcOrd="1" destOrd="0" parTransId="{E8DAA823-B561-4ADE-82C7-60D03B9AA779}" sibTransId="{0EDF481E-952B-4A6D-9B47-C5DF0C9FD933}"/>
    <dgm:cxn modelId="{005398E6-71C0-4395-91C0-E635155C4614}" type="presOf" srcId="{769831B2-FFE1-4BB5-8CB7-C06F8038B582}" destId="{49D8221D-5689-41C8-9547-6ED636FDA9CB}" srcOrd="0" destOrd="0" presId="urn:microsoft.com/office/officeart/2005/8/layout/vList2"/>
    <dgm:cxn modelId="{A2B0237D-F1B1-495A-9969-03CF75CB26F4}" type="presParOf" srcId="{51D69D75-5512-4AD0-8E47-BB1C2DF71FCE}" destId="{F5B6879E-6B01-4372-87ED-8E65C4103127}" srcOrd="0" destOrd="0" presId="urn:microsoft.com/office/officeart/2005/8/layout/vList2"/>
    <dgm:cxn modelId="{47B4520B-8505-4D83-9CB4-9B273D822D4E}" type="presParOf" srcId="{51D69D75-5512-4AD0-8E47-BB1C2DF71FCE}" destId="{0D069A05-A95A-4125-9ED6-6E3191FF5531}" srcOrd="1" destOrd="0" presId="urn:microsoft.com/office/officeart/2005/8/layout/vList2"/>
    <dgm:cxn modelId="{A9BA0423-B71C-4024-BC1B-0E0FEEB7D65A}" type="presParOf" srcId="{51D69D75-5512-4AD0-8E47-BB1C2DF71FCE}" destId="{931DCB45-6C6F-4887-A45B-553F0F0AB816}" srcOrd="2" destOrd="0" presId="urn:microsoft.com/office/officeart/2005/8/layout/vList2"/>
    <dgm:cxn modelId="{A2B9CD35-0725-427A-AB8B-D591A19A28A3}" type="presParOf" srcId="{51D69D75-5512-4AD0-8E47-BB1C2DF71FCE}" destId="{BEFAA2E6-5811-4032-B7E7-410E211A574F}" srcOrd="3" destOrd="0" presId="urn:microsoft.com/office/officeart/2005/8/layout/vList2"/>
    <dgm:cxn modelId="{998EA1A8-183C-43A6-A4DA-9198E1CD7BE8}" type="presParOf" srcId="{51D69D75-5512-4AD0-8E47-BB1C2DF71FCE}" destId="{49D8221D-5689-41C8-9547-6ED636FDA9CB}" srcOrd="4" destOrd="0" presId="urn:microsoft.com/office/officeart/2005/8/layout/vList2"/>
    <dgm:cxn modelId="{ED96D63E-A4F3-4471-B642-1827711B378F}" type="presParOf" srcId="{51D69D75-5512-4AD0-8E47-BB1C2DF71FCE}" destId="{255D37AE-E663-42AC-BA43-052337C9F108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B6879E-6B01-4372-87ED-8E65C4103127}">
      <dsp:nvSpPr>
        <dsp:cNvPr id="0" name=""/>
        <dsp:cNvSpPr/>
      </dsp:nvSpPr>
      <dsp:spPr>
        <a:xfrm>
          <a:off x="0" y="169806"/>
          <a:ext cx="5671458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Login page</a:t>
          </a:r>
        </a:p>
      </dsp:txBody>
      <dsp:txXfrm>
        <a:off x="28100" y="197906"/>
        <a:ext cx="5615258" cy="519439"/>
      </dsp:txXfrm>
    </dsp:sp>
    <dsp:sp modelId="{0D069A05-A95A-4125-9ED6-6E3191FF5531}">
      <dsp:nvSpPr>
        <dsp:cNvPr id="0" name=""/>
        <dsp:cNvSpPr/>
      </dsp:nvSpPr>
      <dsp:spPr>
        <a:xfrm>
          <a:off x="0" y="745446"/>
          <a:ext cx="5671458" cy="869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0069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900" kern="1200" dirty="0"/>
            <a:t>A simple and clean interface for users to access the system. Validates user credentials before entering the dashboard</a:t>
          </a:r>
        </a:p>
      </dsp:txBody>
      <dsp:txXfrm>
        <a:off x="0" y="745446"/>
        <a:ext cx="5671458" cy="869400"/>
      </dsp:txXfrm>
    </dsp:sp>
    <dsp:sp modelId="{931DCB45-6C6F-4887-A45B-553F0F0AB816}">
      <dsp:nvSpPr>
        <dsp:cNvPr id="0" name=""/>
        <dsp:cNvSpPr/>
      </dsp:nvSpPr>
      <dsp:spPr>
        <a:xfrm>
          <a:off x="0" y="1614846"/>
          <a:ext cx="5671458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Dashboard page</a:t>
          </a:r>
        </a:p>
      </dsp:txBody>
      <dsp:txXfrm>
        <a:off x="28100" y="1642946"/>
        <a:ext cx="5615258" cy="519439"/>
      </dsp:txXfrm>
    </dsp:sp>
    <dsp:sp modelId="{BEFAA2E6-5811-4032-B7E7-410E211A574F}">
      <dsp:nvSpPr>
        <dsp:cNvPr id="0" name=""/>
        <dsp:cNvSpPr/>
      </dsp:nvSpPr>
      <dsp:spPr>
        <a:xfrm>
          <a:off x="0" y="2190486"/>
          <a:ext cx="5671458" cy="869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0069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/>
            <a:t>Provides a quick overview of inventory status using cards and charts shows metrics like products, low stock items, and predictions summary</a:t>
          </a:r>
        </a:p>
      </dsp:txBody>
      <dsp:txXfrm>
        <a:off x="0" y="2190486"/>
        <a:ext cx="5671458" cy="869400"/>
      </dsp:txXfrm>
    </dsp:sp>
    <dsp:sp modelId="{49D8221D-5689-41C8-9547-6ED636FDA9CB}">
      <dsp:nvSpPr>
        <dsp:cNvPr id="0" name=""/>
        <dsp:cNvSpPr/>
      </dsp:nvSpPr>
      <dsp:spPr>
        <a:xfrm>
          <a:off x="0" y="3059887"/>
          <a:ext cx="5671458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Products page</a:t>
          </a:r>
        </a:p>
      </dsp:txBody>
      <dsp:txXfrm>
        <a:off x="28100" y="3087987"/>
        <a:ext cx="5615258" cy="519439"/>
      </dsp:txXfrm>
    </dsp:sp>
    <dsp:sp modelId="{255D37AE-E663-42AC-BA43-052337C9F108}">
      <dsp:nvSpPr>
        <dsp:cNvPr id="0" name=""/>
        <dsp:cNvSpPr/>
      </dsp:nvSpPr>
      <dsp:spPr>
        <a:xfrm>
          <a:off x="0" y="3635526"/>
          <a:ext cx="5671458" cy="869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0069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/>
            <a:t>Displays all products in a table with search and filter options. Allows users to view, edit, or delete existing product entries</a:t>
          </a:r>
        </a:p>
      </dsp:txBody>
      <dsp:txXfrm>
        <a:off x="0" y="3635526"/>
        <a:ext cx="5671458" cy="8694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B6879E-6B01-4372-87ED-8E65C4103127}">
      <dsp:nvSpPr>
        <dsp:cNvPr id="0" name=""/>
        <dsp:cNvSpPr/>
      </dsp:nvSpPr>
      <dsp:spPr>
        <a:xfrm>
          <a:off x="0" y="169806"/>
          <a:ext cx="5671457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Add product page</a:t>
          </a:r>
        </a:p>
      </dsp:txBody>
      <dsp:txXfrm>
        <a:off x="28100" y="197906"/>
        <a:ext cx="5615257" cy="519439"/>
      </dsp:txXfrm>
    </dsp:sp>
    <dsp:sp modelId="{0D069A05-A95A-4125-9ED6-6E3191FF5531}">
      <dsp:nvSpPr>
        <dsp:cNvPr id="0" name=""/>
        <dsp:cNvSpPr/>
      </dsp:nvSpPr>
      <dsp:spPr>
        <a:xfrm>
          <a:off x="0" y="745446"/>
          <a:ext cx="5671457" cy="869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0069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/>
            <a:t>A form-based page to add new product details into the inventory helps maintain updated stock and product information </a:t>
          </a:r>
        </a:p>
      </dsp:txBody>
      <dsp:txXfrm>
        <a:off x="0" y="745446"/>
        <a:ext cx="5671457" cy="869400"/>
      </dsp:txXfrm>
    </dsp:sp>
    <dsp:sp modelId="{931DCB45-6C6F-4887-A45B-553F0F0AB816}">
      <dsp:nvSpPr>
        <dsp:cNvPr id="0" name=""/>
        <dsp:cNvSpPr/>
      </dsp:nvSpPr>
      <dsp:spPr>
        <a:xfrm>
          <a:off x="0" y="1614846"/>
          <a:ext cx="5671457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Edit product page</a:t>
          </a:r>
        </a:p>
      </dsp:txBody>
      <dsp:txXfrm>
        <a:off x="28100" y="1642946"/>
        <a:ext cx="5615257" cy="519439"/>
      </dsp:txXfrm>
    </dsp:sp>
    <dsp:sp modelId="{BEFAA2E6-5811-4032-B7E7-410E211A574F}">
      <dsp:nvSpPr>
        <dsp:cNvPr id="0" name=""/>
        <dsp:cNvSpPr/>
      </dsp:nvSpPr>
      <dsp:spPr>
        <a:xfrm>
          <a:off x="0" y="2190486"/>
          <a:ext cx="5671457" cy="869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0069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/>
            <a:t>Used to modify existing product data such as price, stock, and category ensures product information remains accurate over time</a:t>
          </a:r>
        </a:p>
      </dsp:txBody>
      <dsp:txXfrm>
        <a:off x="0" y="2190486"/>
        <a:ext cx="5671457" cy="869400"/>
      </dsp:txXfrm>
    </dsp:sp>
    <dsp:sp modelId="{49D8221D-5689-41C8-9547-6ED636FDA9CB}">
      <dsp:nvSpPr>
        <dsp:cNvPr id="0" name=""/>
        <dsp:cNvSpPr/>
      </dsp:nvSpPr>
      <dsp:spPr>
        <a:xfrm>
          <a:off x="0" y="3059887"/>
          <a:ext cx="5671457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Predictions page</a:t>
          </a:r>
        </a:p>
      </dsp:txBody>
      <dsp:txXfrm>
        <a:off x="28100" y="3087987"/>
        <a:ext cx="5615257" cy="519439"/>
      </dsp:txXfrm>
    </dsp:sp>
    <dsp:sp modelId="{255D37AE-E663-42AC-BA43-052337C9F108}">
      <dsp:nvSpPr>
        <dsp:cNvPr id="0" name=""/>
        <dsp:cNvSpPr/>
      </dsp:nvSpPr>
      <dsp:spPr>
        <a:xfrm>
          <a:off x="0" y="3635526"/>
          <a:ext cx="5671457" cy="869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0069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/>
            <a:t>Shows future demand predications through charts and insight cards </a:t>
          </a:r>
          <a:r>
            <a:rPr lang="en-US" sz="1900" kern="1200" dirty="0" err="1"/>
            <a:t>recommendes</a:t>
          </a:r>
          <a:r>
            <a:rPr lang="en-US" sz="1900" kern="1200" dirty="0"/>
            <a:t> stock adjustments to avoid overstock and stockout situations</a:t>
          </a:r>
        </a:p>
      </dsp:txBody>
      <dsp:txXfrm>
        <a:off x="0" y="3635526"/>
        <a:ext cx="5671457" cy="8694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DC2751-278C-4682-9C3F-0FF7B4FCFAE7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286890-466E-41CD-A28A-B1EBDF22CA3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2942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FF0845-D09E-4AF9-9623-EA7EA0297EF3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7CD11A-EED3-40CE-98A3-28FEE84867B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576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7CD11A-EED3-40CE-98A3-28FEE84867B3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160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9693A-2307-4FDC-9539-08DC9083DDED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406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0E1C1-C26F-4479-A8BD-144B4C139DA5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1943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09738"/>
            <a:ext cx="10515600" cy="2862262"/>
          </a:xfrm>
        </p:spPr>
        <p:txBody>
          <a:bodyPr anchor="b"/>
          <a:lstStyle>
            <a:lvl1pPr>
              <a:lnSpc>
                <a:spcPct val="100000"/>
              </a:lnSpc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589463"/>
            <a:ext cx="10515600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19E61-C2D6-49AB-83F2-8FC9FEFBDAFD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1272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1825625"/>
            <a:ext cx="489204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baseline="0" noProof="0" dirty="0" smtClean="0">
                <a:solidFill>
                  <a:schemeClr val="bg1"/>
                </a:solidFill>
              </a:defRPr>
            </a:lvl1pPr>
            <a:lvl2pPr>
              <a:defRPr lang="en-US" baseline="0" noProof="0" dirty="0" smtClean="0">
                <a:solidFill>
                  <a:schemeClr val="bg1"/>
                </a:solidFill>
              </a:defRPr>
            </a:lvl2pPr>
            <a:lvl3pPr>
              <a:defRPr lang="en-US" baseline="0" noProof="0" dirty="0" smtClean="0">
                <a:solidFill>
                  <a:schemeClr val="bg1"/>
                </a:solidFill>
              </a:defRPr>
            </a:lvl3pPr>
            <a:lvl4pPr>
              <a:defRPr lang="en-US" baseline="0" noProof="0" dirty="0" smtClean="0">
                <a:solidFill>
                  <a:schemeClr val="bg1"/>
                </a:solidFill>
              </a:defRPr>
            </a:lvl4pPr>
            <a:lvl5pPr>
              <a:defRPr lang="en-US" baseline="0" noProof="0" dirty="0" smtClean="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E9E5DC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5650524" y="1825625"/>
            <a:ext cx="489204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noProof="0" dirty="0" smtClean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E9E5DC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BE74F-367A-4D3C-8AA7-FA60CCA05EAE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930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39150"/>
            <a:ext cx="10094976" cy="11521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28800"/>
            <a:ext cx="489204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2498723"/>
            <a:ext cx="4892040" cy="310197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noProof="0" dirty="0" smtClean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E9E5DC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753" y="1828800"/>
            <a:ext cx="489204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5656753" y="2498723"/>
            <a:ext cx="4892040" cy="310197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noProof="0" dirty="0" smtClean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E9E5DC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E3F9C-6465-4987-8E4E-615CFD4753AA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5661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9EFD6-3C20-43C6-9E75-1A9D48D9576F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3858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93D5A-A484-46EE-9DC8-9A16BFF8327E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7605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599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800600" y="987425"/>
            <a:ext cx="5753100" cy="4613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noProof="0" dirty="0" smtClean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E9E5DC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254249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87BC8-78D1-4FEB-9D4F-E22E45CC04F7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721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599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4800600" y="987425"/>
            <a:ext cx="5753100" cy="46132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254249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68210-870C-4A62-9D1B-4B25162550AB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576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11EA7-B10E-4739-92FE-8993461CC0B7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542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91661"/>
            <a:ext cx="2628900" cy="49090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691661"/>
            <a:ext cx="7734300" cy="49090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DC13F-2D2A-49BA-966D-6530A12E7C15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50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invGray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39793"/>
            <a:ext cx="10096500" cy="11509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096500" cy="37780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00CABDA2-EB00-4A4D-86B7-63E286A484E5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E5B29C50-D6F1-4DB6-9B68-F4CD3996E9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648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sz="4000" b="1" kern="1200" cap="none" spc="0">
          <a:ln w="12700" cmpd="sng">
            <a:noFill/>
            <a:prstDash val="solid"/>
          </a:ln>
          <a:solidFill>
            <a:schemeClr val="accent4">
              <a:lumMod val="50000"/>
            </a:schemeClr>
          </a:solidFill>
          <a:effectLst>
            <a:outerShdw blurRad="38100" dist="38100" dir="2700000" algn="tl">
              <a:srgbClr val="000000">
                <a:alpha val="43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bg1"/>
        </a:buClr>
        <a:buSzPct val="70000"/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bg1"/>
        </a:buClr>
        <a:buSzPct val="70000"/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bg1"/>
        </a:buClr>
        <a:buSzPct val="70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bg1"/>
        </a:buClr>
        <a:buSzPct val="70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bg1"/>
        </a:buClr>
        <a:buSzPct val="70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bg1"/>
        </a:buClr>
        <a:buSzPct val="70000"/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bg1"/>
        </a:buClr>
        <a:buSzPct val="70000"/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bg1"/>
        </a:buClr>
        <a:buSzPct val="70000"/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bg1"/>
        </a:buClr>
        <a:buSzPct val="70000"/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orient="horz" pos="2160" userDrawn="1">
          <p15:clr>
            <a:srgbClr val="F26B43"/>
          </p15:clr>
        </p15:guide>
        <p15:guide id="1" pos="3840" userDrawn="1">
          <p15:clr>
            <a:srgbClr val="F26B43"/>
          </p15:clr>
        </p15:guide>
        <p15:guide id="2" pos="288" userDrawn="1">
          <p15:clr>
            <a:srgbClr val="F26B43"/>
          </p15:clr>
        </p15:guide>
        <p15:guide id="3" pos="6648" userDrawn="1">
          <p15:clr>
            <a:srgbClr val="F26B43"/>
          </p15:clr>
        </p15:guide>
        <p15:guide id="4" orient="horz" pos="3528" userDrawn="1">
          <p15:clr>
            <a:srgbClr val="F26B43"/>
          </p15:clr>
        </p15:guide>
        <p15:guide id="5" orient="horz" pos="112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999" y="1041399"/>
            <a:ext cx="9350829" cy="356325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Smart Stock Inventory Optimization for Retail Stores</a:t>
            </a:r>
          </a:p>
        </p:txBody>
      </p:sp>
    </p:spTree>
    <p:extLst>
      <p:ext uri="{BB962C8B-B14F-4D97-AF65-F5344CB8AC3E}">
        <p14:creationId xmlns:p14="http://schemas.microsoft.com/office/powerpoint/2010/main" val="1990881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Problem Statement &amp; Goals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8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Statement:</a:t>
            </a:r>
          </a:p>
          <a:p>
            <a:pPr lvl="1"/>
            <a:r>
              <a:rPr lang="en-US" sz="28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Retail businesses face losses due to</a:t>
            </a:r>
          </a:p>
          <a:p>
            <a:pPr lvl="1"/>
            <a:r>
              <a:rPr lang="en-US" sz="28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Overstock Increased storage &amp; wastage</a:t>
            </a:r>
          </a:p>
          <a:p>
            <a:pPr lvl="1"/>
            <a:r>
              <a:rPr lang="en-US" sz="28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Stockout → Lost sales 6 poor customer experience</a:t>
            </a:r>
          </a:p>
          <a:p>
            <a:pPr marL="228600" lvl="1"/>
            <a:r>
              <a:rPr lang="en-US" sz="28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Goal:</a:t>
            </a:r>
          </a:p>
          <a:p>
            <a:pPr lvl="1">
              <a:lnSpc>
                <a:spcPct val="100000"/>
              </a:lnSpc>
            </a:pPr>
            <a:r>
              <a:rPr lang="en-US" sz="28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Build a predictive model that:</a:t>
            </a:r>
          </a:p>
          <a:p>
            <a:pPr lvl="2">
              <a:lnSpc>
                <a:spcPct val="100000"/>
              </a:lnSpc>
            </a:pPr>
            <a:r>
              <a:rPr lang="en-US" sz="2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Forecasts sales per store &amp; product</a:t>
            </a:r>
          </a:p>
          <a:p>
            <a:pPr lvl="2">
              <a:lnSpc>
                <a:spcPct val="100000"/>
              </a:lnSpc>
            </a:pPr>
            <a:r>
              <a:rPr lang="en-US" sz="2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Classifies stock as Understock, Overstock Balanced</a:t>
            </a:r>
          </a:p>
          <a:p>
            <a:pPr lvl="2">
              <a:lnSpc>
                <a:spcPct val="100000"/>
              </a:lnSpc>
            </a:pPr>
            <a:r>
              <a:rPr lang="en-US" sz="2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Helps retailers maintain optimal inventory levels</a:t>
            </a:r>
          </a:p>
        </p:txBody>
      </p:sp>
    </p:spTree>
    <p:extLst>
      <p:ext uri="{BB962C8B-B14F-4D97-AF65-F5344CB8AC3E}">
        <p14:creationId xmlns:p14="http://schemas.microsoft.com/office/powerpoint/2010/main" val="56685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TOOLS USED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EB4829-3774-672F-BFC4-1DE789176A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6633" y="2574680"/>
            <a:ext cx="7951510" cy="2492621"/>
          </a:xfrm>
        </p:spPr>
        <p:txBody>
          <a:bodyPr>
            <a:normAutofit/>
          </a:bodyPr>
          <a:lstStyle/>
          <a:p>
            <a:pPr lvl="1">
              <a:lnSpc>
                <a:spcPct val="70000"/>
              </a:lnSpc>
            </a:pPr>
            <a:r>
              <a:rPr lang="en-IN" sz="28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build using:            ✔️ React + Tailwind CSS</a:t>
            </a:r>
          </a:p>
          <a:p>
            <a:pPr lvl="1">
              <a:lnSpc>
                <a:spcPct val="70000"/>
              </a:lnSpc>
            </a:pPr>
            <a:r>
              <a:rPr lang="en-IN" sz="28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UI:                     ✔️ React Router</a:t>
            </a:r>
          </a:p>
          <a:p>
            <a:pPr lvl="1">
              <a:lnSpc>
                <a:spcPct val="70000"/>
              </a:lnSpc>
            </a:pPr>
            <a:r>
              <a:rPr lang="en-IN" sz="28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graphs:             ✔️ Recharts / Chart.js</a:t>
            </a:r>
          </a:p>
          <a:p>
            <a:pPr lvl="1">
              <a:lnSpc>
                <a:spcPct val="70000"/>
              </a:lnSpc>
            </a:pPr>
            <a:r>
              <a:rPr lang="en-IN" sz="28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Backend                ✔️ mongo </a:t>
            </a:r>
            <a:r>
              <a:rPr lang="en-IN" sz="2800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</a:t>
            </a:r>
            <a:endParaRPr lang="en-IN" sz="28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4372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Folder structure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831366" y="1684223"/>
            <a:ext cx="489204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smartstock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-frontend/</a:t>
            </a:r>
          </a:p>
          <a:p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│──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src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</a:p>
          <a:p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│   ├── components/</a:t>
            </a:r>
          </a:p>
          <a:p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│   ├── pages/</a:t>
            </a:r>
          </a:p>
          <a:p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│   │   ├──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Dashboard.jsx</a:t>
            </a:r>
            <a:endParaRPr lang="en-US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│   │   ├──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Products.jsx</a:t>
            </a:r>
            <a:endParaRPr lang="en-US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│   │   ├──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AddProduct.jsx</a:t>
            </a:r>
            <a:endParaRPr lang="en-US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│   │   ├──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Login.jsx</a:t>
            </a:r>
            <a:endParaRPr lang="en-US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│   ├──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App.jsx</a:t>
            </a:r>
            <a:endParaRPr lang="en-US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│   ├── index.js</a:t>
            </a:r>
          </a:p>
          <a:p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│──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package.json</a:t>
            </a:r>
            <a:endParaRPr lang="en-US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21E459-4D63-827E-559F-DA1559F97E44}"/>
              </a:ext>
            </a:extLst>
          </p:cNvPr>
          <p:cNvSpPr txBox="1"/>
          <p:nvPr/>
        </p:nvSpPr>
        <p:spPr>
          <a:xfrm>
            <a:off x="5986021" y="1684223"/>
            <a:ext cx="5374613" cy="435811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80000"/>
              </a:lnSpc>
              <a:spcBef>
                <a:spcPct val="30000"/>
              </a:spcBef>
              <a:buClr>
                <a:schemeClr val="bg1"/>
              </a:buClr>
              <a:buSzPct val="70000"/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backend/</a:t>
            </a:r>
          </a:p>
          <a:p>
            <a:pPr marL="228600" indent="-228600">
              <a:lnSpc>
                <a:spcPct val="80000"/>
              </a:lnSpc>
              <a:spcBef>
                <a:spcPct val="30000"/>
              </a:spcBef>
              <a:buClr>
                <a:schemeClr val="bg1"/>
              </a:buClr>
              <a:buSzPct val="70000"/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├── models/</a:t>
            </a:r>
          </a:p>
          <a:p>
            <a:pPr marL="228600" indent="-228600">
              <a:lnSpc>
                <a:spcPct val="80000"/>
              </a:lnSpc>
              <a:spcBef>
                <a:spcPct val="30000"/>
              </a:spcBef>
              <a:buClr>
                <a:schemeClr val="bg1"/>
              </a:buClr>
              <a:buSzPct val="70000"/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│    └── Product.js</a:t>
            </a:r>
          </a:p>
          <a:p>
            <a:pPr marL="228600" indent="-228600">
              <a:lnSpc>
                <a:spcPct val="80000"/>
              </a:lnSpc>
              <a:spcBef>
                <a:spcPct val="30000"/>
              </a:spcBef>
              <a:buClr>
                <a:schemeClr val="bg1"/>
              </a:buClr>
              <a:buSzPct val="70000"/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├── controllers/</a:t>
            </a:r>
          </a:p>
          <a:p>
            <a:pPr marL="228600" indent="-228600">
              <a:lnSpc>
                <a:spcPct val="80000"/>
              </a:lnSpc>
              <a:spcBef>
                <a:spcPct val="30000"/>
              </a:spcBef>
              <a:buClr>
                <a:schemeClr val="bg1"/>
              </a:buClr>
              <a:buSzPct val="70000"/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│    └── productController.js</a:t>
            </a:r>
          </a:p>
          <a:p>
            <a:pPr marL="228600" indent="-228600">
              <a:lnSpc>
                <a:spcPct val="80000"/>
              </a:lnSpc>
              <a:spcBef>
                <a:spcPct val="30000"/>
              </a:spcBef>
              <a:buClr>
                <a:schemeClr val="bg1"/>
              </a:buClr>
              <a:buSzPct val="70000"/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├── routes/</a:t>
            </a:r>
          </a:p>
          <a:p>
            <a:pPr marL="228600" indent="-228600">
              <a:lnSpc>
                <a:spcPct val="80000"/>
              </a:lnSpc>
              <a:spcBef>
                <a:spcPct val="30000"/>
              </a:spcBef>
              <a:buClr>
                <a:schemeClr val="bg1"/>
              </a:buClr>
              <a:buSzPct val="70000"/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│    ├── productRoutes.js</a:t>
            </a:r>
          </a:p>
          <a:p>
            <a:pPr marL="228600" indent="-228600">
              <a:lnSpc>
                <a:spcPct val="80000"/>
              </a:lnSpc>
              <a:spcBef>
                <a:spcPct val="30000"/>
              </a:spcBef>
              <a:buClr>
                <a:schemeClr val="bg1"/>
              </a:buClr>
              <a:buSzPct val="70000"/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│    └── chatbotRoutes.js   (you already have)</a:t>
            </a:r>
          </a:p>
          <a:p>
            <a:pPr marL="228600" indent="-228600">
              <a:lnSpc>
                <a:spcPct val="80000"/>
              </a:lnSpc>
              <a:spcBef>
                <a:spcPct val="30000"/>
              </a:spcBef>
              <a:buClr>
                <a:schemeClr val="bg1"/>
              </a:buClr>
              <a:buSzPct val="70000"/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├── server.js</a:t>
            </a:r>
          </a:p>
          <a:p>
            <a:pPr marL="228600" indent="-228600">
              <a:lnSpc>
                <a:spcPct val="80000"/>
              </a:lnSpc>
              <a:spcBef>
                <a:spcPct val="30000"/>
              </a:spcBef>
              <a:buClr>
                <a:schemeClr val="bg1"/>
              </a:buClr>
              <a:buSzPct val="70000"/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├── </a:t>
            </a:r>
            <a:r>
              <a:rPr lang="en-IN" sz="2200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package.json</a:t>
            </a:r>
            <a:endParaRPr lang="en-IN" sz="22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8600">
              <a:lnSpc>
                <a:spcPct val="80000"/>
              </a:lnSpc>
              <a:spcBef>
                <a:spcPct val="30000"/>
              </a:spcBef>
              <a:buClr>
                <a:schemeClr val="bg1"/>
              </a:buClr>
              <a:buSzPct val="70000"/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├── .env</a:t>
            </a:r>
          </a:p>
        </p:txBody>
      </p:sp>
    </p:spTree>
    <p:extLst>
      <p:ext uri="{BB962C8B-B14F-4D97-AF65-F5344CB8AC3E}">
        <p14:creationId xmlns:p14="http://schemas.microsoft.com/office/powerpoint/2010/main" val="3290065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1885" y="351322"/>
            <a:ext cx="10096500" cy="1150907"/>
          </a:xfrm>
        </p:spPr>
        <p:txBody>
          <a:bodyPr>
            <a:normAutofit/>
          </a:bodyPr>
          <a:lstStyle/>
          <a:p>
            <a:r>
              <a:rPr lang="en-US" dirty="0"/>
              <a:t>pages overview</a:t>
            </a:r>
          </a:p>
        </p:txBody>
      </p:sp>
      <p:graphicFrame>
        <p:nvGraphicFramePr>
          <p:cNvPr id="8" name="Content Placeholder 7" descr="Vertical Bullet List showing 3 groups arranged one below the other and bullet points are present under each group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518234873"/>
              </p:ext>
            </p:extLst>
          </p:nvPr>
        </p:nvGraphicFramePr>
        <p:xfrm>
          <a:off x="188536" y="1215246"/>
          <a:ext cx="5671458" cy="46747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Content Placeholder 7" descr="Vertical Bullet List showing 3 groups arranged one below the other and bullet points are present under each group">
            <a:extLst>
              <a:ext uri="{FF2B5EF4-FFF2-40B4-BE49-F238E27FC236}">
                <a16:creationId xmlns:a16="http://schemas.microsoft.com/office/drawing/2014/main" id="{F46C2A45-973B-56C8-0E50-677BF457B94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35976794"/>
              </p:ext>
            </p:extLst>
          </p:nvPr>
        </p:nvGraphicFramePr>
        <p:xfrm>
          <a:off x="6128658" y="1215246"/>
          <a:ext cx="5671457" cy="46747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638068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D12FD-5701-1F6F-E773-E8F4891E6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603C1-FBD8-BFEE-0D60-2479ED879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1542" y="1875934"/>
            <a:ext cx="7503735" cy="2677213"/>
          </a:xfrm>
        </p:spPr>
        <p:txBody>
          <a:bodyPr>
            <a:normAutofit/>
          </a:bodyPr>
          <a:lstStyle/>
          <a:p>
            <a:r>
              <a:rPr lang="en-US" sz="8800" dirty="0"/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1E73C4-FF7E-607E-4344-08FBC5EABDD4}"/>
              </a:ext>
            </a:extLst>
          </p:cNvPr>
          <p:cNvSpPr txBox="1"/>
          <p:nvPr/>
        </p:nvSpPr>
        <p:spPr>
          <a:xfrm>
            <a:off x="1319752" y="143776"/>
            <a:ext cx="4506013" cy="70788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IN" sz="4000" b="1">
                <a:ln w="12700" cmpd="sng">
                  <a:noFill/>
                  <a:prstDash val="solid"/>
                </a:ln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rPr>
              <a:t>Login page</a:t>
            </a:r>
            <a:endParaRPr lang="en-IN" sz="4000" b="1" dirty="0">
              <a:ln w="12700" cmpd="sng">
                <a:noFill/>
                <a:prstDash val="solid"/>
              </a:ln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A4ADD7-BA4F-F275-5998-206E8AB2B9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524" b="5238"/>
          <a:stretch>
            <a:fillRect/>
          </a:stretch>
        </p:blipFill>
        <p:spPr>
          <a:xfrm>
            <a:off x="0" y="996043"/>
            <a:ext cx="12192000" cy="5502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486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8706B-5A1D-862D-16E1-452680D35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06710-3306-6B63-0710-F70CD3653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1542" y="1875934"/>
            <a:ext cx="7503735" cy="2677213"/>
          </a:xfrm>
        </p:spPr>
        <p:txBody>
          <a:bodyPr>
            <a:normAutofit/>
          </a:bodyPr>
          <a:lstStyle/>
          <a:p>
            <a:r>
              <a:rPr lang="en-US" sz="8800" dirty="0"/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E4CFD1-CC62-3AF0-1ED7-15B7C41D0903}"/>
              </a:ext>
            </a:extLst>
          </p:cNvPr>
          <p:cNvSpPr txBox="1"/>
          <p:nvPr/>
        </p:nvSpPr>
        <p:spPr>
          <a:xfrm>
            <a:off x="1319752" y="143776"/>
            <a:ext cx="4506013" cy="70788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IN" sz="4000" b="1" dirty="0">
                <a:ln w="12700" cmpd="sng">
                  <a:noFill/>
                  <a:prstDash val="solid"/>
                </a:ln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rPr>
              <a:t>Dashboard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6E3C1A-94B7-9CD5-1609-644BEB73D7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63" b="5476"/>
          <a:stretch>
            <a:fillRect/>
          </a:stretch>
        </p:blipFill>
        <p:spPr>
          <a:xfrm>
            <a:off x="0" y="1012370"/>
            <a:ext cx="12192000" cy="5470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622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ED9F1-689F-8B21-3096-D39F0F694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56E66-08F1-10AC-FE02-4B8A3A708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1542" y="1875934"/>
            <a:ext cx="7503735" cy="2677213"/>
          </a:xfrm>
        </p:spPr>
        <p:txBody>
          <a:bodyPr>
            <a:normAutofit/>
          </a:bodyPr>
          <a:lstStyle/>
          <a:p>
            <a:r>
              <a:rPr lang="en-US" sz="8800" dirty="0"/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BD8039-1207-BBDF-B96D-9BA9577B692B}"/>
              </a:ext>
            </a:extLst>
          </p:cNvPr>
          <p:cNvSpPr txBox="1"/>
          <p:nvPr/>
        </p:nvSpPr>
        <p:spPr>
          <a:xfrm>
            <a:off x="1319752" y="143776"/>
            <a:ext cx="4506013" cy="70788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IN" sz="4000" b="1" dirty="0">
                <a:ln w="12700" cmpd="sng">
                  <a:noFill/>
                  <a:prstDash val="solid"/>
                </a:ln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rPr>
              <a:t>Products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128EAB-0332-EBBB-2CD0-CD235CDBB4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62" b="7858"/>
          <a:stretch>
            <a:fillRect/>
          </a:stretch>
        </p:blipFill>
        <p:spPr>
          <a:xfrm>
            <a:off x="0" y="1012370"/>
            <a:ext cx="12192000" cy="530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18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EA4AB-00D6-AAC7-D41E-3F455CDCE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089FD-8D03-74D1-8ACE-7E525A181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1542" y="1875934"/>
            <a:ext cx="7503735" cy="2677213"/>
          </a:xfrm>
        </p:spPr>
        <p:txBody>
          <a:bodyPr>
            <a:normAutofit/>
          </a:bodyPr>
          <a:lstStyle/>
          <a:p>
            <a:r>
              <a:rPr lang="en-US" sz="8800" dirty="0"/>
              <a:t>THANK YOU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934A56-9713-08B5-3F60-6B6928271B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433" b="6941"/>
          <a:stretch>
            <a:fillRect/>
          </a:stretch>
        </p:blipFill>
        <p:spPr>
          <a:xfrm>
            <a:off x="164969" y="805894"/>
            <a:ext cx="11862062" cy="52462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FB1E69E-AA4D-9025-5427-C0B73C9B75BB}"/>
              </a:ext>
            </a:extLst>
          </p:cNvPr>
          <p:cNvSpPr txBox="1"/>
          <p:nvPr/>
        </p:nvSpPr>
        <p:spPr>
          <a:xfrm>
            <a:off x="537327" y="172056"/>
            <a:ext cx="4506013" cy="70788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IN" sz="4000" b="1" dirty="0">
                <a:ln w="12700" cmpd="sng">
                  <a:noFill/>
                  <a:prstDash val="solid"/>
                </a:ln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rPr>
              <a:t>predictions</a:t>
            </a:r>
          </a:p>
        </p:txBody>
      </p:sp>
    </p:spTree>
    <p:extLst>
      <p:ext uri="{BB962C8B-B14F-4D97-AF65-F5344CB8AC3E}">
        <p14:creationId xmlns:p14="http://schemas.microsoft.com/office/powerpoint/2010/main" val="876984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61B0F-9CE4-87D7-1BA2-3A3A5620D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D4D7F-6DE9-D1AA-5D49-B8D057906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1542" y="1875934"/>
            <a:ext cx="7503735" cy="2677213"/>
          </a:xfrm>
        </p:spPr>
        <p:txBody>
          <a:bodyPr>
            <a:normAutofit/>
          </a:bodyPr>
          <a:lstStyle/>
          <a:p>
            <a:r>
              <a:rPr lang="en-US" sz="8800" dirty="0"/>
              <a:t>THANK YOU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F66313-D839-12DA-8258-82BA311806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87" b="5713"/>
          <a:stretch>
            <a:fillRect/>
          </a:stretch>
        </p:blipFill>
        <p:spPr>
          <a:xfrm>
            <a:off x="0" y="979714"/>
            <a:ext cx="12192000" cy="5486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599ABB-75C7-F389-404B-B7F83521A408}"/>
              </a:ext>
            </a:extLst>
          </p:cNvPr>
          <p:cNvSpPr txBox="1"/>
          <p:nvPr/>
        </p:nvSpPr>
        <p:spPr>
          <a:xfrm>
            <a:off x="537327" y="172056"/>
            <a:ext cx="4506013" cy="70788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IN" sz="4000" b="1" dirty="0">
                <a:ln w="12700" cmpd="sng">
                  <a:noFill/>
                  <a:prstDash val="solid"/>
                </a:ln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rPr>
              <a:t>chatbot</a:t>
            </a:r>
          </a:p>
        </p:txBody>
      </p:sp>
    </p:spTree>
    <p:extLst>
      <p:ext uri="{BB962C8B-B14F-4D97-AF65-F5344CB8AC3E}">
        <p14:creationId xmlns:p14="http://schemas.microsoft.com/office/powerpoint/2010/main" val="2472931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4A0DC-5B95-7BDC-1C4C-CC18DA984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90E60-CECF-12AB-6D96-EDFC653CB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1542" y="1875934"/>
            <a:ext cx="7503735" cy="2677213"/>
          </a:xfrm>
        </p:spPr>
        <p:txBody>
          <a:bodyPr>
            <a:normAutofit/>
          </a:bodyPr>
          <a:lstStyle/>
          <a:p>
            <a:r>
              <a:rPr lang="en-US" sz="8800" dirty="0"/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212F2E-D24B-A027-DD8F-F744E5050C82}"/>
              </a:ext>
            </a:extLst>
          </p:cNvPr>
          <p:cNvSpPr txBox="1"/>
          <p:nvPr/>
        </p:nvSpPr>
        <p:spPr>
          <a:xfrm>
            <a:off x="537327" y="172056"/>
            <a:ext cx="4506013" cy="70788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IN" sz="4000" b="1" dirty="0">
                <a:ln w="12700" cmpd="sng">
                  <a:noFill/>
                  <a:prstDash val="solid"/>
                </a:ln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rPr>
              <a:t>Add product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587833-2F04-6AFB-D769-3573E9CE83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31" b="4762"/>
          <a:stretch>
            <a:fillRect/>
          </a:stretch>
        </p:blipFill>
        <p:spPr>
          <a:xfrm>
            <a:off x="0" y="879942"/>
            <a:ext cx="12192000" cy="5651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531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04845-6E5D-7182-6086-446E8F236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48DC8-8D25-AE51-23E0-D9B633668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1542" y="1875934"/>
            <a:ext cx="7503735" cy="2677213"/>
          </a:xfrm>
        </p:spPr>
        <p:txBody>
          <a:bodyPr>
            <a:normAutofit/>
          </a:bodyPr>
          <a:lstStyle/>
          <a:p>
            <a:r>
              <a:rPr lang="en-US" sz="8800" dirty="0"/>
              <a:t>THANK YOU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033354-4F6A-D48F-72B6-79BA6F5C6A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24" b="5476"/>
          <a:stretch>
            <a:fillRect/>
          </a:stretch>
        </p:blipFill>
        <p:spPr>
          <a:xfrm>
            <a:off x="0" y="996042"/>
            <a:ext cx="12192000" cy="54864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2929C94-8824-7E83-8E9E-84D301635830}"/>
              </a:ext>
            </a:extLst>
          </p:cNvPr>
          <p:cNvSpPr txBox="1"/>
          <p:nvPr/>
        </p:nvSpPr>
        <p:spPr>
          <a:xfrm>
            <a:off x="537327" y="172056"/>
            <a:ext cx="4506013" cy="70788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IN" sz="4000" b="1">
                <a:ln w="12700" cmpd="sng">
                  <a:noFill/>
                  <a:prstDash val="solid"/>
                </a:ln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rPr>
              <a:t>Edit product</a:t>
            </a:r>
            <a:endParaRPr lang="en-IN" sz="4000" b="1" dirty="0">
              <a:ln w="12700" cmpd="sng">
                <a:noFill/>
                <a:prstDash val="solid"/>
              </a:ln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518311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157C9-5DF2-19FC-4ED3-292BBB960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647D2-D7EA-4DFE-4A97-189F30AD1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1542" y="1875934"/>
            <a:ext cx="7503735" cy="2677213"/>
          </a:xfrm>
        </p:spPr>
        <p:txBody>
          <a:bodyPr>
            <a:normAutofit/>
          </a:bodyPr>
          <a:lstStyle/>
          <a:p>
            <a:r>
              <a:rPr lang="en-US" sz="88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819594092"/>
      </p:ext>
    </p:extLst>
  </p:cSld>
  <p:clrMapOvr>
    <a:masterClrMapping/>
  </p:clrMapOvr>
</p:sld>
</file>

<file path=ppt/theme/theme1.xml><?xml version="1.0" encoding="utf-8"?>
<a:theme xmlns:a="http://schemas.openxmlformats.org/drawingml/2006/main" name="Vertical Lexicon design template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/>
      </a:spPr>
      <a:bodyPr rtlCol="0" anchor="ctr"/>
      <a:lstStyle>
        <a:defPPr algn="ctr">
          <a:defRPr dirty="0"/>
        </a:defPPr>
      </a:lstStyle>
      <a:style>
        <a:lnRef idx="2">
          <a:schemeClr val="accent2">
            <a:shade val="50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2"/>
        </a:lnRef>
        <a:fillRef idx="0">
          <a:schemeClr val="accent2"/>
        </a:fillRef>
        <a:effectRef idx="0">
          <a:schemeClr val="accent2"/>
        </a:effectRef>
        <a:fontRef idx="minor">
          <a:schemeClr val="tx1"/>
        </a:fontRef>
      </a:style>
    </a:lnDef>
    <a:txDef>
      <a:spPr>
        <a:noFill/>
        <a:ln>
          <a:solidFill>
            <a:schemeClr val="tx2"/>
          </a:solidFill>
        </a:ln>
      </a:spPr>
      <a:bodyPr wrap="none" rtlCol="0">
        <a:spAutoFit/>
      </a:bodyPr>
      <a:lstStyle>
        <a:defPPr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Vertical lexicon design slides.potx" id="{49C7086D-B6BF-42C9-B2E9-7A6F5A963EAA}" vid="{839E83B1-FF0C-49E8-8563-59D864F05AE3}"/>
    </a:ext>
  </a:extLst>
</a:theme>
</file>

<file path=ppt/theme/theme2.xml><?xml version="1.0" encoding="utf-8"?>
<a:theme xmlns:a="http://schemas.openxmlformats.org/drawingml/2006/main" name="Office Theme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3F7D94069FF64A86F7DFF56D60E3BE" ma:contentTypeVersion="6" ma:contentTypeDescription="Create a new document." ma:contentTypeScope="" ma:versionID="c32302c77d4085ecf495bdddb7f5e889">
  <xsd:schema xmlns:xsd="http://www.w3.org/2001/XMLSchema" xmlns:xs="http://www.w3.org/2001/XMLSchema" xmlns:p="http://schemas.microsoft.com/office/2006/metadata/properties" xmlns:ns2="a4f35948-e619-41b3-aa29-22878b09cfd2" xmlns:ns3="40262f94-9f35-4ac3-9a90-690165a166b7" targetNamespace="http://schemas.microsoft.com/office/2006/metadata/properties" ma:root="true" ma:fieldsID="4ab5ae46be95f9d0be6107e8200be7a2" ns2:_="" ns3:_="">
    <xsd:import namespace="a4f35948-e619-41b3-aa29-22878b09cfd2"/>
    <xsd:import namespace="40262f94-9f35-4ac3-9a90-690165a166b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VSO_x0020_item_x0020_id" minOccurs="0"/>
                <xsd:element ref="ns3:Item_x0020_Details" minOccurs="0"/>
                <xsd:element ref="ns3:Template_x0020_details" minOccurs="0"/>
                <xsd:element ref="ns3:Assetid_x002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35948-e619-41b3-aa29-22878b09cf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62f94-9f35-4ac3-9a90-690165a166b7" elementFormDefault="qualified">
    <xsd:import namespace="http://schemas.microsoft.com/office/2006/documentManagement/types"/>
    <xsd:import namespace="http://schemas.microsoft.com/office/infopath/2007/PartnerControls"/>
    <xsd:element name="VSO_x0020_item_x0020_id" ma:index="10" nillable="true" ma:displayName="VSO item id" ma:description="Please add the bug number to refer to VSO items." ma:internalName="VSO_x0020_item_x0020_id">
      <xsd:simpleType>
        <xsd:restriction base="dms:Text">
          <xsd:maxLength value="255"/>
        </xsd:restriction>
      </xsd:simpleType>
    </xsd:element>
    <xsd:element name="Item_x0020_Details" ma:index="11" nillable="true" ma:displayName="Item Details" ma:internalName="Item_x0020_Details">
      <xsd:simpleType>
        <xsd:restriction base="dms:Note">
          <xsd:maxLength value="255"/>
        </xsd:restriction>
      </xsd:simpleType>
    </xsd:element>
    <xsd:element name="Template_x0020_details" ma:index="12" nillable="true" ma:displayName="Template details" ma:internalName="Template_x0020_details">
      <xsd:simpleType>
        <xsd:restriction base="dms:Text"/>
      </xsd:simpleType>
    </xsd:element>
    <xsd:element name="Assetid_x0020_" ma:index="13" nillable="true" ma:displayName="Assetid " ma:internalName="Assetid_x0020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SO_x0020_item_x0020_id xmlns="40262f94-9f35-4ac3-9a90-690165a166b7" xsi:nil="true"/>
    <Assetid_x0020_ xmlns="40262f94-9f35-4ac3-9a90-690165a166b7" xsi:nil="true"/>
    <Item_x0020_Details xmlns="40262f94-9f35-4ac3-9a90-690165a166b7" xsi:nil="true"/>
    <Template_x0020_details xmlns="40262f94-9f35-4ac3-9a90-690165a166b7" xsi:nil="true"/>
  </documentManagement>
</p:properties>
</file>

<file path=customXml/itemProps1.xml><?xml version="1.0" encoding="utf-8"?>
<ds:datastoreItem xmlns:ds="http://schemas.openxmlformats.org/officeDocument/2006/customXml" ds:itemID="{05EEE0F9-7BC9-4998-8617-7CC115AD97E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BEBB951-DE64-4CB8-9E1C-184A357AD7F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35948-e619-41b3-aa29-22878b09cfd2"/>
    <ds:schemaRef ds:uri="40262f94-9f35-4ac3-9a90-690165a166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A1BD8E5-A18E-435C-B431-90A6B59F4B6F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40262f94-9f35-4ac3-9a90-690165a166b7"/>
    <ds:schemaRef ds:uri="a4f35948-e619-41b3-aa29-22878b09cfd2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Vertical lexicon design slides</Template>
  <TotalTime>282</TotalTime>
  <Words>365</Words>
  <Application>Microsoft Office PowerPoint</Application>
  <PresentationFormat>Widescreen</PresentationFormat>
  <Paragraphs>68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Vertical Lexicon design template</vt:lpstr>
      <vt:lpstr>Smart Stock Inventory Optimization for Retail Stores</vt:lpstr>
      <vt:lpstr>Problem Statement &amp; Goals</vt:lpstr>
      <vt:lpstr>TOOLS USED</vt:lpstr>
      <vt:lpstr>Folder structure</vt:lpstr>
      <vt:lpstr>pages overview</vt:lpstr>
      <vt:lpstr>THANK YOU</vt:lpstr>
      <vt:lpstr>THANK YOU</vt:lpstr>
      <vt:lpstr>THANK YOU</vt:lpstr>
      <vt:lpstr>THANK YOU</vt:lpstr>
      <vt:lpstr>THANK YOU</vt:lpstr>
      <vt:lpstr>THANK YOU</vt:lpstr>
      <vt:lpstr>THANK YOU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pro_ coder</dc:creator>
  <cp:lastModifiedBy>pro_ coder</cp:lastModifiedBy>
  <cp:revision>5</cp:revision>
  <dcterms:created xsi:type="dcterms:W3CDTF">2025-11-21T04:05:54Z</dcterms:created>
  <dcterms:modified xsi:type="dcterms:W3CDTF">2025-12-05T11:14:31Z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74067900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