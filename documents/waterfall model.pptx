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Cooper BT Heavy" charset="1" panose="0208090404030B020404"/>
      <p:regular r:id="rId29"/>
    </p:embeddedFont>
    <p:embeddedFont>
      <p:font typeface="TT Hoves" charset="1" panose="02000003020000060003"/>
      <p:regular r:id="rId30"/>
    </p:embeddedFont>
    <p:embeddedFont>
      <p:font typeface="TT Hoves Bold" charset="1" panose="02000003020000060003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49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80706" y="6582220"/>
            <a:ext cx="7477537" cy="7409559"/>
          </a:xfrm>
          <a:custGeom>
            <a:avLst/>
            <a:gdLst/>
            <a:ahLst/>
            <a:cxnLst/>
            <a:rect r="r" b="b" t="t" l="l"/>
            <a:pathLst>
              <a:path h="7409559" w="7477537">
                <a:moveTo>
                  <a:pt x="0" y="0"/>
                </a:moveTo>
                <a:lnTo>
                  <a:pt x="7477537" y="0"/>
                </a:lnTo>
                <a:lnTo>
                  <a:pt x="7477537" y="7409560"/>
                </a:lnTo>
                <a:lnTo>
                  <a:pt x="0" y="7409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7331" y="-4410929"/>
            <a:ext cx="7477537" cy="7409559"/>
          </a:xfrm>
          <a:custGeom>
            <a:avLst/>
            <a:gdLst/>
            <a:ahLst/>
            <a:cxnLst/>
            <a:rect r="r" b="b" t="t" l="l"/>
            <a:pathLst>
              <a:path h="7409559" w="7477537">
                <a:moveTo>
                  <a:pt x="0" y="0"/>
                </a:moveTo>
                <a:lnTo>
                  <a:pt x="7477538" y="0"/>
                </a:lnTo>
                <a:lnTo>
                  <a:pt x="7477538" y="7409560"/>
                </a:lnTo>
                <a:lnTo>
                  <a:pt x="0" y="7409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-59793"/>
            <a:ext cx="7315200" cy="4054579"/>
          </a:xfrm>
          <a:custGeom>
            <a:avLst/>
            <a:gdLst/>
            <a:ahLst/>
            <a:cxnLst/>
            <a:rect r="r" b="b" t="t" l="l"/>
            <a:pathLst>
              <a:path h="4054579" w="7315200">
                <a:moveTo>
                  <a:pt x="0" y="0"/>
                </a:moveTo>
                <a:lnTo>
                  <a:pt x="7315200" y="0"/>
                </a:lnTo>
                <a:lnTo>
                  <a:pt x="7315200" y="4054578"/>
                </a:lnTo>
                <a:lnTo>
                  <a:pt x="0" y="40545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29423" y="3500016"/>
            <a:ext cx="13029155" cy="317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67"/>
              </a:lnSpc>
            </a:pPr>
            <a:r>
              <a:rPr lang="en-US" sz="13008">
                <a:solidFill>
                  <a:srgbClr val="FDDF97"/>
                </a:solidFill>
                <a:latin typeface="Cooper BT Heavy"/>
                <a:ea typeface="Cooper BT Heavy"/>
                <a:cs typeface="Cooper BT Heavy"/>
                <a:sym typeface="Cooper BT Heavy"/>
              </a:rPr>
              <a:t> WATERFALL MODEL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24557" y="6242789"/>
            <a:ext cx="10238886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DDF97"/>
                </a:solidFill>
                <a:latin typeface="TT Hoves"/>
                <a:ea typeface="TT Hoves"/>
                <a:cs typeface="TT Hoves"/>
                <a:sym typeface="TT Hoves"/>
              </a:rPr>
              <a:t>Software Development Model</a:t>
            </a:r>
          </a:p>
        </p:txBody>
      </p:sp>
      <p:sp>
        <p:nvSpPr>
          <p:cNvPr name="Freeform 7" id="7"/>
          <p:cNvSpPr/>
          <p:nvPr/>
        </p:nvSpPr>
        <p:spPr>
          <a:xfrm flipH="true" flipV="true" rot="0">
            <a:off x="10972800" y="6282690"/>
            <a:ext cx="7315200" cy="4054579"/>
          </a:xfrm>
          <a:custGeom>
            <a:avLst/>
            <a:gdLst/>
            <a:ahLst/>
            <a:cxnLst/>
            <a:rect r="r" b="b" t="t" l="l"/>
            <a:pathLst>
              <a:path h="4054579" w="7315200">
                <a:moveTo>
                  <a:pt x="7315200" y="4054578"/>
                </a:moveTo>
                <a:lnTo>
                  <a:pt x="0" y="4054578"/>
                </a:lnTo>
                <a:lnTo>
                  <a:pt x="0" y="0"/>
                </a:lnTo>
                <a:lnTo>
                  <a:pt x="7315200" y="0"/>
                </a:lnTo>
                <a:lnTo>
                  <a:pt x="7315200" y="405457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49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DDF9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3446153">
            <a:off x="14486036" y="6854506"/>
            <a:ext cx="8587818" cy="9840208"/>
          </a:xfrm>
          <a:custGeom>
            <a:avLst/>
            <a:gdLst/>
            <a:ahLst/>
            <a:cxnLst/>
            <a:rect r="r" b="b" t="t" l="l"/>
            <a:pathLst>
              <a:path h="9840208" w="8587818">
                <a:moveTo>
                  <a:pt x="0" y="0"/>
                </a:moveTo>
                <a:lnTo>
                  <a:pt x="8587818" y="0"/>
                </a:lnTo>
                <a:lnTo>
                  <a:pt x="8587818" y="9840208"/>
                </a:lnTo>
                <a:lnTo>
                  <a:pt x="0" y="9840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54827" y="2887663"/>
            <a:ext cx="15827790" cy="529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Waterfall Model is a traditional software development methodology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It follows a linear and sequential approach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Each phase must be completed before moving to the next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Easy to understand and manage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61995" y="1247775"/>
            <a:ext cx="8655225" cy="1021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364968"/>
                </a:solidFill>
                <a:latin typeface="Cooper BT Heavy"/>
                <a:ea typeface="Cooper BT Heavy"/>
                <a:cs typeface="Cooper BT Heavy"/>
                <a:sym typeface="Cooper BT Heavy"/>
              </a:rPr>
              <a:t>Introduction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7828688">
            <a:off x="-5035082" y="-5872670"/>
            <a:ext cx="8587818" cy="9840208"/>
          </a:xfrm>
          <a:custGeom>
            <a:avLst/>
            <a:gdLst/>
            <a:ahLst/>
            <a:cxnLst/>
            <a:rect r="r" b="b" t="t" l="l"/>
            <a:pathLst>
              <a:path h="9840208" w="8587818">
                <a:moveTo>
                  <a:pt x="0" y="0"/>
                </a:moveTo>
                <a:lnTo>
                  <a:pt x="8587818" y="0"/>
                </a:lnTo>
                <a:lnTo>
                  <a:pt x="8587818" y="9840208"/>
                </a:lnTo>
                <a:lnTo>
                  <a:pt x="0" y="9840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49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DDF9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-47625" y="6172200"/>
            <a:ext cx="2644212" cy="4114800"/>
          </a:xfrm>
          <a:custGeom>
            <a:avLst/>
            <a:gdLst/>
            <a:ahLst/>
            <a:cxnLst/>
            <a:rect r="r" b="b" t="t" l="l"/>
            <a:pathLst>
              <a:path h="4114800" w="2644212">
                <a:moveTo>
                  <a:pt x="2644212" y="0"/>
                </a:moveTo>
                <a:lnTo>
                  <a:pt x="0" y="0"/>
                </a:lnTo>
                <a:lnTo>
                  <a:pt x="0" y="4114800"/>
                </a:lnTo>
                <a:lnTo>
                  <a:pt x="2644212" y="4114800"/>
                </a:lnTo>
                <a:lnTo>
                  <a:pt x="2644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51591" y="2945803"/>
            <a:ext cx="15739038" cy="617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A linear sequential software development life cycle (SDLC) model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Progress flows downward like a waterfall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No overlapping between phases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Best suited for small and well-defined projects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It is rigid and does not easily accommodate changes.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247775"/>
            <a:ext cx="15984819" cy="197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364968"/>
                </a:solidFill>
                <a:latin typeface="Cooper BT Heavy"/>
                <a:ea typeface="Cooper BT Heavy"/>
                <a:cs typeface="Cooper BT Heavy"/>
                <a:sym typeface="Cooper BT Heavy"/>
              </a:rPr>
              <a:t>What is the Waterfall Model?</a:t>
            </a:r>
          </a:p>
        </p:txBody>
      </p:sp>
      <p:sp>
        <p:nvSpPr>
          <p:cNvPr name="Freeform 8" id="8"/>
          <p:cNvSpPr/>
          <p:nvPr/>
        </p:nvSpPr>
        <p:spPr>
          <a:xfrm flipH="false" flipV="true" rot="0">
            <a:off x="15691413" y="0"/>
            <a:ext cx="2644212" cy="4114800"/>
          </a:xfrm>
          <a:custGeom>
            <a:avLst/>
            <a:gdLst/>
            <a:ahLst/>
            <a:cxnLst/>
            <a:rect r="r" b="b" t="t" l="l"/>
            <a:pathLst>
              <a:path h="4114800" w="2644212">
                <a:moveTo>
                  <a:pt x="0" y="4114800"/>
                </a:moveTo>
                <a:lnTo>
                  <a:pt x="2644212" y="4114800"/>
                </a:lnTo>
                <a:lnTo>
                  <a:pt x="264421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49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53594"/>
            <a:ext cx="16230600" cy="8779811"/>
            <a:chOff x="0" y="0"/>
            <a:chExt cx="4274726" cy="23123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312378"/>
            </a:xfrm>
            <a:custGeom>
              <a:avLst/>
              <a:gdLst/>
              <a:ahLst/>
              <a:cxnLst/>
              <a:rect r="r" b="b" t="t" l="l"/>
              <a:pathLst>
                <a:path h="231237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12378"/>
                  </a:lnTo>
                  <a:lnTo>
                    <a:pt x="0" y="2312378"/>
                  </a:lnTo>
                  <a:close/>
                </a:path>
              </a:pathLst>
            </a:custGeom>
            <a:solidFill>
              <a:srgbClr val="FDDF9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350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31774" y="972669"/>
            <a:ext cx="14737607" cy="1021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364968"/>
                </a:solidFill>
                <a:latin typeface="Cooper BT Heavy"/>
                <a:ea typeface="Cooper BT Heavy"/>
                <a:cs typeface="Cooper BT Heavy"/>
                <a:sym typeface="Cooper BT Heavy"/>
              </a:rPr>
              <a:t>Phases of Waterfall Model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4480706" y="7396290"/>
            <a:ext cx="6655999" cy="6595490"/>
          </a:xfrm>
          <a:custGeom>
            <a:avLst/>
            <a:gdLst/>
            <a:ahLst/>
            <a:cxnLst/>
            <a:rect r="r" b="b" t="t" l="l"/>
            <a:pathLst>
              <a:path h="6595490" w="6655999">
                <a:moveTo>
                  <a:pt x="0" y="0"/>
                </a:moveTo>
                <a:lnTo>
                  <a:pt x="6655999" y="0"/>
                </a:lnTo>
                <a:lnTo>
                  <a:pt x="6655999" y="6595490"/>
                </a:lnTo>
                <a:lnTo>
                  <a:pt x="0" y="65954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293684" y="-4410929"/>
            <a:ext cx="6771184" cy="6709628"/>
          </a:xfrm>
          <a:custGeom>
            <a:avLst/>
            <a:gdLst/>
            <a:ahLst/>
            <a:cxnLst/>
            <a:rect r="r" b="b" t="t" l="l"/>
            <a:pathLst>
              <a:path h="6709628" w="6771184">
                <a:moveTo>
                  <a:pt x="0" y="0"/>
                </a:moveTo>
                <a:lnTo>
                  <a:pt x="6771185" y="0"/>
                </a:lnTo>
                <a:lnTo>
                  <a:pt x="6771185" y="6709628"/>
                </a:lnTo>
                <a:lnTo>
                  <a:pt x="0" y="6709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3850762" y="7877851"/>
            <a:ext cx="4437238" cy="2459417"/>
          </a:xfrm>
          <a:custGeom>
            <a:avLst/>
            <a:gdLst/>
            <a:ahLst/>
            <a:cxnLst/>
            <a:rect r="r" b="b" t="t" l="l"/>
            <a:pathLst>
              <a:path h="2459417" w="4437238">
                <a:moveTo>
                  <a:pt x="4437238" y="2459417"/>
                </a:moveTo>
                <a:lnTo>
                  <a:pt x="0" y="2459417"/>
                </a:lnTo>
                <a:lnTo>
                  <a:pt x="0" y="0"/>
                </a:lnTo>
                <a:lnTo>
                  <a:pt x="4437238" y="0"/>
                </a:lnTo>
                <a:lnTo>
                  <a:pt x="4437238" y="245941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-57150"/>
            <a:ext cx="4437238" cy="2459417"/>
          </a:xfrm>
          <a:custGeom>
            <a:avLst/>
            <a:gdLst/>
            <a:ahLst/>
            <a:cxnLst/>
            <a:rect r="r" b="b" t="t" l="l"/>
            <a:pathLst>
              <a:path h="2459417" w="4437238">
                <a:moveTo>
                  <a:pt x="0" y="0"/>
                </a:moveTo>
                <a:lnTo>
                  <a:pt x="4437238" y="0"/>
                </a:lnTo>
                <a:lnTo>
                  <a:pt x="4437238" y="2459417"/>
                </a:lnTo>
                <a:lnTo>
                  <a:pt x="0" y="24594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31774" y="2402267"/>
            <a:ext cx="15467471" cy="5771046"/>
          </a:xfrm>
          <a:custGeom>
            <a:avLst/>
            <a:gdLst/>
            <a:ahLst/>
            <a:cxnLst/>
            <a:rect r="r" b="b" t="t" l="l"/>
            <a:pathLst>
              <a:path h="5771046" w="15467471">
                <a:moveTo>
                  <a:pt x="0" y="0"/>
                </a:moveTo>
                <a:lnTo>
                  <a:pt x="15467471" y="0"/>
                </a:lnTo>
                <a:lnTo>
                  <a:pt x="15467471" y="5771047"/>
                </a:lnTo>
                <a:lnTo>
                  <a:pt x="0" y="57710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29" t="-43488" r="-584" b="-13209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49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53594"/>
            <a:ext cx="16230600" cy="8779811"/>
            <a:chOff x="0" y="0"/>
            <a:chExt cx="4274726" cy="23123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312378"/>
            </a:xfrm>
            <a:custGeom>
              <a:avLst/>
              <a:gdLst/>
              <a:ahLst/>
              <a:cxnLst/>
              <a:rect r="r" b="b" t="t" l="l"/>
              <a:pathLst>
                <a:path h="231237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12378"/>
                  </a:lnTo>
                  <a:lnTo>
                    <a:pt x="0" y="2312378"/>
                  </a:lnTo>
                  <a:close/>
                </a:path>
              </a:pathLst>
            </a:custGeom>
            <a:solidFill>
              <a:srgbClr val="FDDF9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350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3446153">
            <a:off x="14486036" y="6854506"/>
            <a:ext cx="8587818" cy="9840208"/>
          </a:xfrm>
          <a:custGeom>
            <a:avLst/>
            <a:gdLst/>
            <a:ahLst/>
            <a:cxnLst/>
            <a:rect r="r" b="b" t="t" l="l"/>
            <a:pathLst>
              <a:path h="9840208" w="8587818">
                <a:moveTo>
                  <a:pt x="0" y="0"/>
                </a:moveTo>
                <a:lnTo>
                  <a:pt x="8587818" y="0"/>
                </a:lnTo>
                <a:lnTo>
                  <a:pt x="8587818" y="9840208"/>
                </a:lnTo>
                <a:lnTo>
                  <a:pt x="0" y="9840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828688">
            <a:off x="-5035082" y="-5872670"/>
            <a:ext cx="8587818" cy="9840208"/>
          </a:xfrm>
          <a:custGeom>
            <a:avLst/>
            <a:gdLst/>
            <a:ahLst/>
            <a:cxnLst/>
            <a:rect r="r" b="b" t="t" l="l"/>
            <a:pathLst>
              <a:path h="9840208" w="8587818">
                <a:moveTo>
                  <a:pt x="0" y="0"/>
                </a:moveTo>
                <a:lnTo>
                  <a:pt x="8587818" y="0"/>
                </a:lnTo>
                <a:lnTo>
                  <a:pt x="8587818" y="9840208"/>
                </a:lnTo>
                <a:lnTo>
                  <a:pt x="0" y="9840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71756" y="2267535"/>
            <a:ext cx="15744488" cy="5307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Understanding user needs and system requirement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Requirements are documented clearly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Forms the foundation for all future phases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Errors here affect the entire project</a:t>
            </a:r>
          </a:p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364968"/>
                </a:solidFill>
                <a:latin typeface="TT Hoves Bold"/>
                <a:ea typeface="TT Hoves Bold"/>
                <a:cs typeface="TT Hoves Bold"/>
                <a:sym typeface="TT Hoves Bold"/>
              </a:rPr>
              <a:t>What happens in this phase?</a:t>
            </a:r>
          </a:p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       </a:t>
            </a: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We collect and document what the user wants.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00727" y="972669"/>
            <a:ext cx="13008165" cy="1021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364968"/>
                </a:solidFill>
                <a:latin typeface="Cooper BT Heavy"/>
                <a:ea typeface="Cooper BT Heavy"/>
                <a:cs typeface="Cooper BT Heavy"/>
                <a:sym typeface="Cooper BT Heavy"/>
              </a:rPr>
              <a:t>Requirement Analysis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49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DDF9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-47625" y="6172200"/>
            <a:ext cx="2644212" cy="4114800"/>
          </a:xfrm>
          <a:custGeom>
            <a:avLst/>
            <a:gdLst/>
            <a:ahLst/>
            <a:cxnLst/>
            <a:rect r="r" b="b" t="t" l="l"/>
            <a:pathLst>
              <a:path h="4114800" w="2644212">
                <a:moveTo>
                  <a:pt x="2644212" y="0"/>
                </a:moveTo>
                <a:lnTo>
                  <a:pt x="0" y="0"/>
                </a:lnTo>
                <a:lnTo>
                  <a:pt x="0" y="4114800"/>
                </a:lnTo>
                <a:lnTo>
                  <a:pt x="2644212" y="4114800"/>
                </a:lnTo>
                <a:lnTo>
                  <a:pt x="2644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59775" y="2193925"/>
            <a:ext cx="15553743" cy="529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Librarian wants: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Add / remove books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Issue and return books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Search books by name/author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Maintain student records</a:t>
            </a:r>
          </a:p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These requirements are written clearly in a document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94539" y="1247775"/>
            <a:ext cx="8655225" cy="1021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364968"/>
                </a:solidFill>
                <a:latin typeface="Cooper BT Heavy"/>
                <a:ea typeface="Cooper BT Heavy"/>
                <a:cs typeface="Cooper BT Heavy"/>
                <a:sym typeface="Cooper BT Heavy"/>
              </a:rPr>
              <a:t>Example</a:t>
            </a:r>
          </a:p>
        </p:txBody>
      </p:sp>
      <p:sp>
        <p:nvSpPr>
          <p:cNvPr name="Freeform 8" id="8"/>
          <p:cNvSpPr/>
          <p:nvPr/>
        </p:nvSpPr>
        <p:spPr>
          <a:xfrm flipH="false" flipV="true" rot="0">
            <a:off x="15691413" y="0"/>
            <a:ext cx="2644212" cy="4114800"/>
          </a:xfrm>
          <a:custGeom>
            <a:avLst/>
            <a:gdLst/>
            <a:ahLst/>
            <a:cxnLst/>
            <a:rect r="r" b="b" t="t" l="l"/>
            <a:pathLst>
              <a:path h="4114800" w="2644212">
                <a:moveTo>
                  <a:pt x="0" y="4114800"/>
                </a:moveTo>
                <a:lnTo>
                  <a:pt x="2644212" y="4114800"/>
                </a:lnTo>
                <a:lnTo>
                  <a:pt x="264421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49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DDF9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861006"/>
            <a:ext cx="16032739" cy="529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Defines system architecture and design specification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Hardware and software requirements are decided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Helps developers understand how the system will work </a:t>
            </a:r>
          </a:p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364968"/>
                </a:solidFill>
                <a:latin typeface="TT Hoves Bold"/>
                <a:ea typeface="TT Hoves Bold"/>
                <a:cs typeface="TT Hoves Bold"/>
                <a:sym typeface="TT Hoves Bold"/>
              </a:rPr>
              <a:t>    What happens here?</a:t>
            </a:r>
          </a:p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            </a:t>
            </a: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We decide how the system will work.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37238" y="1247775"/>
            <a:ext cx="8655225" cy="1021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364968"/>
                </a:solidFill>
                <a:latin typeface="Cooper BT Heavy"/>
                <a:ea typeface="Cooper BT Heavy"/>
                <a:cs typeface="Cooper BT Heavy"/>
                <a:sym typeface="Cooper BT Heavy"/>
              </a:rPr>
              <a:t>System Design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4480706" y="7396290"/>
            <a:ext cx="6655999" cy="6595490"/>
          </a:xfrm>
          <a:custGeom>
            <a:avLst/>
            <a:gdLst/>
            <a:ahLst/>
            <a:cxnLst/>
            <a:rect r="r" b="b" t="t" l="l"/>
            <a:pathLst>
              <a:path h="6595490" w="6655999">
                <a:moveTo>
                  <a:pt x="0" y="0"/>
                </a:moveTo>
                <a:lnTo>
                  <a:pt x="6655999" y="0"/>
                </a:lnTo>
                <a:lnTo>
                  <a:pt x="6655999" y="6595490"/>
                </a:lnTo>
                <a:lnTo>
                  <a:pt x="0" y="65954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93684" y="-4410929"/>
            <a:ext cx="6771184" cy="6709628"/>
          </a:xfrm>
          <a:custGeom>
            <a:avLst/>
            <a:gdLst/>
            <a:ahLst/>
            <a:cxnLst/>
            <a:rect r="r" b="b" t="t" l="l"/>
            <a:pathLst>
              <a:path h="6709628" w="6771184">
                <a:moveTo>
                  <a:pt x="0" y="0"/>
                </a:moveTo>
                <a:lnTo>
                  <a:pt x="6771185" y="0"/>
                </a:lnTo>
                <a:lnTo>
                  <a:pt x="6771185" y="6709628"/>
                </a:lnTo>
                <a:lnTo>
                  <a:pt x="0" y="6709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3850762" y="7877851"/>
            <a:ext cx="4437238" cy="2459417"/>
          </a:xfrm>
          <a:custGeom>
            <a:avLst/>
            <a:gdLst/>
            <a:ahLst/>
            <a:cxnLst/>
            <a:rect r="r" b="b" t="t" l="l"/>
            <a:pathLst>
              <a:path h="2459417" w="4437238">
                <a:moveTo>
                  <a:pt x="4437238" y="2459417"/>
                </a:moveTo>
                <a:lnTo>
                  <a:pt x="0" y="2459417"/>
                </a:lnTo>
                <a:lnTo>
                  <a:pt x="0" y="0"/>
                </a:lnTo>
                <a:lnTo>
                  <a:pt x="4437238" y="0"/>
                </a:lnTo>
                <a:lnTo>
                  <a:pt x="4437238" y="245941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-57150"/>
            <a:ext cx="4437238" cy="2459417"/>
          </a:xfrm>
          <a:custGeom>
            <a:avLst/>
            <a:gdLst/>
            <a:ahLst/>
            <a:cxnLst/>
            <a:rect r="r" b="b" t="t" l="l"/>
            <a:pathLst>
              <a:path h="2459417" w="4437238">
                <a:moveTo>
                  <a:pt x="0" y="0"/>
                </a:moveTo>
                <a:lnTo>
                  <a:pt x="4437238" y="0"/>
                </a:lnTo>
                <a:lnTo>
                  <a:pt x="4437238" y="2459417"/>
                </a:lnTo>
                <a:lnTo>
                  <a:pt x="0" y="24594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49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DDF9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3446153">
            <a:off x="14486036" y="6854506"/>
            <a:ext cx="8587818" cy="9840208"/>
          </a:xfrm>
          <a:custGeom>
            <a:avLst/>
            <a:gdLst/>
            <a:ahLst/>
            <a:cxnLst/>
            <a:rect r="r" b="b" t="t" l="l"/>
            <a:pathLst>
              <a:path h="9840208" w="8587818">
                <a:moveTo>
                  <a:pt x="0" y="0"/>
                </a:moveTo>
                <a:lnTo>
                  <a:pt x="8587818" y="0"/>
                </a:lnTo>
                <a:lnTo>
                  <a:pt x="8587818" y="9840208"/>
                </a:lnTo>
                <a:lnTo>
                  <a:pt x="0" y="9840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90180" y="2164716"/>
            <a:ext cx="15622842" cy="706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Decide: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Frontend: HTML, CSS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Backend: Java / Python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Database: MySQL</a:t>
            </a:r>
          </a:p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Design: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Login page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Book table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Student table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16387" y="1247775"/>
            <a:ext cx="8655225" cy="1021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364968"/>
                </a:solidFill>
                <a:latin typeface="Cooper BT Heavy"/>
                <a:ea typeface="Cooper BT Heavy"/>
                <a:cs typeface="Cooper BT Heavy"/>
                <a:sym typeface="Cooper BT Heavy"/>
              </a:rPr>
              <a:t>Example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7828688">
            <a:off x="-5035082" y="-5872670"/>
            <a:ext cx="8587818" cy="9840208"/>
          </a:xfrm>
          <a:custGeom>
            <a:avLst/>
            <a:gdLst/>
            <a:ahLst/>
            <a:cxnLst/>
            <a:rect r="r" b="b" t="t" l="l"/>
            <a:pathLst>
              <a:path h="9840208" w="8587818">
                <a:moveTo>
                  <a:pt x="0" y="0"/>
                </a:moveTo>
                <a:lnTo>
                  <a:pt x="8587818" y="0"/>
                </a:lnTo>
                <a:lnTo>
                  <a:pt x="8587818" y="9840208"/>
                </a:lnTo>
                <a:lnTo>
                  <a:pt x="0" y="9840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49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DDF9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-47625" y="6172200"/>
            <a:ext cx="2644212" cy="4114800"/>
          </a:xfrm>
          <a:custGeom>
            <a:avLst/>
            <a:gdLst/>
            <a:ahLst/>
            <a:cxnLst/>
            <a:rect r="r" b="b" t="t" l="l"/>
            <a:pathLst>
              <a:path h="4114800" w="2644212">
                <a:moveTo>
                  <a:pt x="2644212" y="0"/>
                </a:moveTo>
                <a:lnTo>
                  <a:pt x="0" y="0"/>
                </a:lnTo>
                <a:lnTo>
                  <a:pt x="0" y="4114800"/>
                </a:lnTo>
                <a:lnTo>
                  <a:pt x="2644212" y="4114800"/>
                </a:lnTo>
                <a:lnTo>
                  <a:pt x="2644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96587" y="2887663"/>
            <a:ext cx="14171150" cy="529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Actual coding of the software takes place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Each module is developed individually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Follows the design specifications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Programming languages and tools are used</a:t>
            </a:r>
          </a:p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364968"/>
                </a:solidFill>
                <a:latin typeface="TT Hoves Bold"/>
                <a:ea typeface="TT Hoves Bold"/>
                <a:cs typeface="TT Hoves Bold"/>
                <a:sym typeface="TT Hoves Bold"/>
              </a:rPr>
              <a:t>What happens here?</a:t>
            </a:r>
          </a:p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      Actual coding starts.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40146" y="1247775"/>
            <a:ext cx="9672796" cy="1021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364968"/>
                </a:solidFill>
                <a:latin typeface="Cooper BT Heavy"/>
                <a:ea typeface="Cooper BT Heavy"/>
                <a:cs typeface="Cooper BT Heavy"/>
                <a:sym typeface="Cooper BT Heavy"/>
              </a:rPr>
              <a:t>Implementation</a:t>
            </a:r>
          </a:p>
        </p:txBody>
      </p:sp>
      <p:sp>
        <p:nvSpPr>
          <p:cNvPr name="Freeform 8" id="8"/>
          <p:cNvSpPr/>
          <p:nvPr/>
        </p:nvSpPr>
        <p:spPr>
          <a:xfrm flipH="false" flipV="true" rot="0">
            <a:off x="15691413" y="0"/>
            <a:ext cx="2644212" cy="4114800"/>
          </a:xfrm>
          <a:custGeom>
            <a:avLst/>
            <a:gdLst/>
            <a:ahLst/>
            <a:cxnLst/>
            <a:rect r="r" b="b" t="t" l="l"/>
            <a:pathLst>
              <a:path h="4114800" w="2644212">
                <a:moveTo>
                  <a:pt x="0" y="4114800"/>
                </a:moveTo>
                <a:lnTo>
                  <a:pt x="2644212" y="4114800"/>
                </a:lnTo>
                <a:lnTo>
                  <a:pt x="264421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49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53594"/>
            <a:ext cx="16230600" cy="8779811"/>
            <a:chOff x="0" y="0"/>
            <a:chExt cx="4274726" cy="23123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312378"/>
            </a:xfrm>
            <a:custGeom>
              <a:avLst/>
              <a:gdLst/>
              <a:ahLst/>
              <a:cxnLst/>
              <a:rect r="r" b="b" t="t" l="l"/>
              <a:pathLst>
                <a:path h="231237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12378"/>
                  </a:lnTo>
                  <a:lnTo>
                    <a:pt x="0" y="2312378"/>
                  </a:lnTo>
                  <a:close/>
                </a:path>
              </a:pathLst>
            </a:custGeom>
            <a:solidFill>
              <a:srgbClr val="FDDF9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350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22983" y="2643441"/>
            <a:ext cx="14246398" cy="440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Write code to:</a:t>
            </a:r>
          </a:p>
          <a:p>
            <a:pPr algn="l" marL="1079501" indent="-539750" lvl="1">
              <a:lnSpc>
                <a:spcPts val="7000"/>
              </a:lnSpc>
              <a:buAutoNum type="arabicPeriod" startAt="1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Add books</a:t>
            </a:r>
          </a:p>
          <a:p>
            <a:pPr algn="l" marL="1079501" indent="-539750" lvl="1">
              <a:lnSpc>
                <a:spcPts val="7000"/>
              </a:lnSpc>
              <a:buAutoNum type="arabicPeriod" startAt="1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Issue books</a:t>
            </a:r>
          </a:p>
          <a:p>
            <a:pPr algn="l" marL="1079501" indent="-539750" lvl="1">
              <a:lnSpc>
                <a:spcPts val="7000"/>
              </a:lnSpc>
              <a:buAutoNum type="arabicPeriod" startAt="1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Return books</a:t>
            </a:r>
          </a:p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Each module is coded separately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16387" y="1141340"/>
            <a:ext cx="8655225" cy="1021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364968"/>
                </a:solidFill>
                <a:latin typeface="Cooper BT Heavy"/>
                <a:ea typeface="Cooper BT Heavy"/>
                <a:cs typeface="Cooper BT Heavy"/>
                <a:sym typeface="Cooper BT Heavy"/>
              </a:rPr>
              <a:t>Example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4480706" y="7396290"/>
            <a:ext cx="6655999" cy="6595490"/>
          </a:xfrm>
          <a:custGeom>
            <a:avLst/>
            <a:gdLst/>
            <a:ahLst/>
            <a:cxnLst/>
            <a:rect r="r" b="b" t="t" l="l"/>
            <a:pathLst>
              <a:path h="6595490" w="6655999">
                <a:moveTo>
                  <a:pt x="0" y="0"/>
                </a:moveTo>
                <a:lnTo>
                  <a:pt x="6655999" y="0"/>
                </a:lnTo>
                <a:lnTo>
                  <a:pt x="6655999" y="6595490"/>
                </a:lnTo>
                <a:lnTo>
                  <a:pt x="0" y="65954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93684" y="-4410929"/>
            <a:ext cx="6771184" cy="6709628"/>
          </a:xfrm>
          <a:custGeom>
            <a:avLst/>
            <a:gdLst/>
            <a:ahLst/>
            <a:cxnLst/>
            <a:rect r="r" b="b" t="t" l="l"/>
            <a:pathLst>
              <a:path h="6709628" w="6771184">
                <a:moveTo>
                  <a:pt x="0" y="0"/>
                </a:moveTo>
                <a:lnTo>
                  <a:pt x="6771185" y="0"/>
                </a:lnTo>
                <a:lnTo>
                  <a:pt x="6771185" y="6709628"/>
                </a:lnTo>
                <a:lnTo>
                  <a:pt x="0" y="6709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3850762" y="7877851"/>
            <a:ext cx="4437238" cy="2459417"/>
          </a:xfrm>
          <a:custGeom>
            <a:avLst/>
            <a:gdLst/>
            <a:ahLst/>
            <a:cxnLst/>
            <a:rect r="r" b="b" t="t" l="l"/>
            <a:pathLst>
              <a:path h="2459417" w="4437238">
                <a:moveTo>
                  <a:pt x="4437238" y="2459417"/>
                </a:moveTo>
                <a:lnTo>
                  <a:pt x="0" y="2459417"/>
                </a:lnTo>
                <a:lnTo>
                  <a:pt x="0" y="0"/>
                </a:lnTo>
                <a:lnTo>
                  <a:pt x="4437238" y="0"/>
                </a:lnTo>
                <a:lnTo>
                  <a:pt x="4437238" y="245941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-57150"/>
            <a:ext cx="4437238" cy="2459417"/>
          </a:xfrm>
          <a:custGeom>
            <a:avLst/>
            <a:gdLst/>
            <a:ahLst/>
            <a:cxnLst/>
            <a:rect r="r" b="b" t="t" l="l"/>
            <a:pathLst>
              <a:path h="2459417" w="4437238">
                <a:moveTo>
                  <a:pt x="0" y="0"/>
                </a:moveTo>
                <a:lnTo>
                  <a:pt x="4437238" y="0"/>
                </a:lnTo>
                <a:lnTo>
                  <a:pt x="4437238" y="2459417"/>
                </a:lnTo>
                <a:lnTo>
                  <a:pt x="0" y="24594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49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53594"/>
            <a:ext cx="16230600" cy="8779811"/>
            <a:chOff x="0" y="0"/>
            <a:chExt cx="4274726" cy="23123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312378"/>
            </a:xfrm>
            <a:custGeom>
              <a:avLst/>
              <a:gdLst/>
              <a:ahLst/>
              <a:cxnLst/>
              <a:rect r="r" b="b" t="t" l="l"/>
              <a:pathLst>
                <a:path h="231237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12378"/>
                  </a:lnTo>
                  <a:lnTo>
                    <a:pt x="0" y="2312378"/>
                  </a:lnTo>
                  <a:close/>
                </a:path>
              </a:pathLst>
            </a:custGeom>
            <a:solidFill>
              <a:srgbClr val="FDDF9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350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85932" y="2643441"/>
            <a:ext cx="15687956" cy="529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Software is tested for errors and bugs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Ensures the system meets requirements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Includes unit testing, integration testing, and system testing</a:t>
            </a:r>
          </a:p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364968"/>
                </a:solidFill>
                <a:latin typeface="TT Hoves Bold"/>
                <a:ea typeface="TT Hoves Bold"/>
                <a:cs typeface="TT Hoves Bold"/>
                <a:sym typeface="TT Hoves Bold"/>
              </a:rPr>
              <a:t>What happens here?</a:t>
            </a:r>
          </a:p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      We check whether the system works correctly.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16387" y="1141340"/>
            <a:ext cx="8655225" cy="1021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364968"/>
                </a:solidFill>
                <a:latin typeface="Cooper BT Heavy"/>
                <a:ea typeface="Cooper BT Heavy"/>
                <a:cs typeface="Cooper BT Heavy"/>
                <a:sym typeface="Cooper BT Heavy"/>
              </a:rPr>
              <a:t>Testing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4480706" y="7396290"/>
            <a:ext cx="6655999" cy="6595490"/>
          </a:xfrm>
          <a:custGeom>
            <a:avLst/>
            <a:gdLst/>
            <a:ahLst/>
            <a:cxnLst/>
            <a:rect r="r" b="b" t="t" l="l"/>
            <a:pathLst>
              <a:path h="6595490" w="6655999">
                <a:moveTo>
                  <a:pt x="0" y="0"/>
                </a:moveTo>
                <a:lnTo>
                  <a:pt x="6655999" y="0"/>
                </a:lnTo>
                <a:lnTo>
                  <a:pt x="6655999" y="6595490"/>
                </a:lnTo>
                <a:lnTo>
                  <a:pt x="0" y="65954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93684" y="-4410929"/>
            <a:ext cx="6771184" cy="6709628"/>
          </a:xfrm>
          <a:custGeom>
            <a:avLst/>
            <a:gdLst/>
            <a:ahLst/>
            <a:cxnLst/>
            <a:rect r="r" b="b" t="t" l="l"/>
            <a:pathLst>
              <a:path h="6709628" w="6771184">
                <a:moveTo>
                  <a:pt x="0" y="0"/>
                </a:moveTo>
                <a:lnTo>
                  <a:pt x="6771185" y="0"/>
                </a:lnTo>
                <a:lnTo>
                  <a:pt x="6771185" y="6709628"/>
                </a:lnTo>
                <a:lnTo>
                  <a:pt x="0" y="6709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3850762" y="7877851"/>
            <a:ext cx="4437238" cy="2459417"/>
          </a:xfrm>
          <a:custGeom>
            <a:avLst/>
            <a:gdLst/>
            <a:ahLst/>
            <a:cxnLst/>
            <a:rect r="r" b="b" t="t" l="l"/>
            <a:pathLst>
              <a:path h="2459417" w="4437238">
                <a:moveTo>
                  <a:pt x="4437238" y="2459417"/>
                </a:moveTo>
                <a:lnTo>
                  <a:pt x="0" y="2459417"/>
                </a:lnTo>
                <a:lnTo>
                  <a:pt x="0" y="0"/>
                </a:lnTo>
                <a:lnTo>
                  <a:pt x="4437238" y="0"/>
                </a:lnTo>
                <a:lnTo>
                  <a:pt x="4437238" y="245941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-57150"/>
            <a:ext cx="4437238" cy="2459417"/>
          </a:xfrm>
          <a:custGeom>
            <a:avLst/>
            <a:gdLst/>
            <a:ahLst/>
            <a:cxnLst/>
            <a:rect r="r" b="b" t="t" l="l"/>
            <a:pathLst>
              <a:path h="2459417" w="4437238">
                <a:moveTo>
                  <a:pt x="0" y="0"/>
                </a:moveTo>
                <a:lnTo>
                  <a:pt x="4437238" y="0"/>
                </a:lnTo>
                <a:lnTo>
                  <a:pt x="4437238" y="2459417"/>
                </a:lnTo>
                <a:lnTo>
                  <a:pt x="0" y="24594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49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53594"/>
            <a:ext cx="16230600" cy="8779811"/>
            <a:chOff x="0" y="0"/>
            <a:chExt cx="4274726" cy="23123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312378"/>
            </a:xfrm>
            <a:custGeom>
              <a:avLst/>
              <a:gdLst/>
              <a:ahLst/>
              <a:cxnLst/>
              <a:rect r="r" b="b" t="t" l="l"/>
              <a:pathLst>
                <a:path h="231237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12378"/>
                  </a:lnTo>
                  <a:lnTo>
                    <a:pt x="0" y="2312378"/>
                  </a:lnTo>
                  <a:close/>
                </a:path>
              </a:pathLst>
            </a:custGeom>
            <a:solidFill>
              <a:srgbClr val="FDDF9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350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22983" y="2643441"/>
            <a:ext cx="14246398" cy="440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Test: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Can the same</a:t>
            </a: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 book be issued twice?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What happens if a wrong student ID is entered?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Are search results correct?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16387" y="1141340"/>
            <a:ext cx="8655225" cy="1021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364968"/>
                </a:solidFill>
                <a:latin typeface="Cooper BT Heavy"/>
                <a:ea typeface="Cooper BT Heavy"/>
                <a:cs typeface="Cooper BT Heavy"/>
                <a:sym typeface="Cooper BT Heavy"/>
              </a:rPr>
              <a:t>Example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4480706" y="7396290"/>
            <a:ext cx="6655999" cy="6595490"/>
          </a:xfrm>
          <a:custGeom>
            <a:avLst/>
            <a:gdLst/>
            <a:ahLst/>
            <a:cxnLst/>
            <a:rect r="r" b="b" t="t" l="l"/>
            <a:pathLst>
              <a:path h="6595490" w="6655999">
                <a:moveTo>
                  <a:pt x="0" y="0"/>
                </a:moveTo>
                <a:lnTo>
                  <a:pt x="6655999" y="0"/>
                </a:lnTo>
                <a:lnTo>
                  <a:pt x="6655999" y="6595490"/>
                </a:lnTo>
                <a:lnTo>
                  <a:pt x="0" y="65954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93684" y="-4410929"/>
            <a:ext cx="6771184" cy="6709628"/>
          </a:xfrm>
          <a:custGeom>
            <a:avLst/>
            <a:gdLst/>
            <a:ahLst/>
            <a:cxnLst/>
            <a:rect r="r" b="b" t="t" l="l"/>
            <a:pathLst>
              <a:path h="6709628" w="6771184">
                <a:moveTo>
                  <a:pt x="0" y="0"/>
                </a:moveTo>
                <a:lnTo>
                  <a:pt x="6771185" y="0"/>
                </a:lnTo>
                <a:lnTo>
                  <a:pt x="6771185" y="6709628"/>
                </a:lnTo>
                <a:lnTo>
                  <a:pt x="0" y="6709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3850762" y="7877851"/>
            <a:ext cx="4437238" cy="2459417"/>
          </a:xfrm>
          <a:custGeom>
            <a:avLst/>
            <a:gdLst/>
            <a:ahLst/>
            <a:cxnLst/>
            <a:rect r="r" b="b" t="t" l="l"/>
            <a:pathLst>
              <a:path h="2459417" w="4437238">
                <a:moveTo>
                  <a:pt x="4437238" y="2459417"/>
                </a:moveTo>
                <a:lnTo>
                  <a:pt x="0" y="2459417"/>
                </a:lnTo>
                <a:lnTo>
                  <a:pt x="0" y="0"/>
                </a:lnTo>
                <a:lnTo>
                  <a:pt x="4437238" y="0"/>
                </a:lnTo>
                <a:lnTo>
                  <a:pt x="4437238" y="245941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-57150"/>
            <a:ext cx="4437238" cy="2459417"/>
          </a:xfrm>
          <a:custGeom>
            <a:avLst/>
            <a:gdLst/>
            <a:ahLst/>
            <a:cxnLst/>
            <a:rect r="r" b="b" t="t" l="l"/>
            <a:pathLst>
              <a:path h="2459417" w="4437238">
                <a:moveTo>
                  <a:pt x="0" y="0"/>
                </a:moveTo>
                <a:lnTo>
                  <a:pt x="4437238" y="0"/>
                </a:lnTo>
                <a:lnTo>
                  <a:pt x="4437238" y="2459417"/>
                </a:lnTo>
                <a:lnTo>
                  <a:pt x="0" y="24594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49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53594"/>
            <a:ext cx="16230600" cy="8779811"/>
            <a:chOff x="0" y="0"/>
            <a:chExt cx="4274726" cy="23123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312378"/>
            </a:xfrm>
            <a:custGeom>
              <a:avLst/>
              <a:gdLst/>
              <a:ahLst/>
              <a:cxnLst/>
              <a:rect r="r" b="b" t="t" l="l"/>
              <a:pathLst>
                <a:path h="231237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12378"/>
                  </a:lnTo>
                  <a:lnTo>
                    <a:pt x="0" y="2312378"/>
                  </a:lnTo>
                  <a:close/>
                </a:path>
              </a:pathLst>
            </a:custGeom>
            <a:solidFill>
              <a:srgbClr val="FDDF9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350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22983" y="2643441"/>
            <a:ext cx="14246398" cy="440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Software is delivered to the customer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Installed and configured in real environment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End users start using the system</a:t>
            </a:r>
          </a:p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364968"/>
                </a:solidFill>
                <a:latin typeface="TT Hoves Bold"/>
                <a:ea typeface="TT Hoves Bold"/>
                <a:cs typeface="TT Hoves Bold"/>
                <a:sym typeface="TT Hoves Bold"/>
              </a:rPr>
              <a:t>What happens here?</a:t>
            </a:r>
          </a:p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          The software is delivered to the user.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16387" y="1141340"/>
            <a:ext cx="8655225" cy="1021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364968"/>
                </a:solidFill>
                <a:latin typeface="Cooper BT Heavy"/>
                <a:ea typeface="Cooper BT Heavy"/>
                <a:cs typeface="Cooper BT Heavy"/>
                <a:sym typeface="Cooper BT Heavy"/>
              </a:rPr>
              <a:t>Deployment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4480706" y="7396290"/>
            <a:ext cx="6655999" cy="6595490"/>
          </a:xfrm>
          <a:custGeom>
            <a:avLst/>
            <a:gdLst/>
            <a:ahLst/>
            <a:cxnLst/>
            <a:rect r="r" b="b" t="t" l="l"/>
            <a:pathLst>
              <a:path h="6595490" w="6655999">
                <a:moveTo>
                  <a:pt x="0" y="0"/>
                </a:moveTo>
                <a:lnTo>
                  <a:pt x="6655999" y="0"/>
                </a:lnTo>
                <a:lnTo>
                  <a:pt x="6655999" y="6595490"/>
                </a:lnTo>
                <a:lnTo>
                  <a:pt x="0" y="65954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93684" y="-4410929"/>
            <a:ext cx="6771184" cy="6709628"/>
          </a:xfrm>
          <a:custGeom>
            <a:avLst/>
            <a:gdLst/>
            <a:ahLst/>
            <a:cxnLst/>
            <a:rect r="r" b="b" t="t" l="l"/>
            <a:pathLst>
              <a:path h="6709628" w="6771184">
                <a:moveTo>
                  <a:pt x="0" y="0"/>
                </a:moveTo>
                <a:lnTo>
                  <a:pt x="6771185" y="0"/>
                </a:lnTo>
                <a:lnTo>
                  <a:pt x="6771185" y="6709628"/>
                </a:lnTo>
                <a:lnTo>
                  <a:pt x="0" y="6709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3850762" y="7877851"/>
            <a:ext cx="4437238" cy="2459417"/>
          </a:xfrm>
          <a:custGeom>
            <a:avLst/>
            <a:gdLst/>
            <a:ahLst/>
            <a:cxnLst/>
            <a:rect r="r" b="b" t="t" l="l"/>
            <a:pathLst>
              <a:path h="2459417" w="4437238">
                <a:moveTo>
                  <a:pt x="4437238" y="2459417"/>
                </a:moveTo>
                <a:lnTo>
                  <a:pt x="0" y="2459417"/>
                </a:lnTo>
                <a:lnTo>
                  <a:pt x="0" y="0"/>
                </a:lnTo>
                <a:lnTo>
                  <a:pt x="4437238" y="0"/>
                </a:lnTo>
                <a:lnTo>
                  <a:pt x="4437238" y="245941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-57150"/>
            <a:ext cx="4437238" cy="2459417"/>
          </a:xfrm>
          <a:custGeom>
            <a:avLst/>
            <a:gdLst/>
            <a:ahLst/>
            <a:cxnLst/>
            <a:rect r="r" b="b" t="t" l="l"/>
            <a:pathLst>
              <a:path h="2459417" w="4437238">
                <a:moveTo>
                  <a:pt x="0" y="0"/>
                </a:moveTo>
                <a:lnTo>
                  <a:pt x="4437238" y="0"/>
                </a:lnTo>
                <a:lnTo>
                  <a:pt x="4437238" y="2459417"/>
                </a:lnTo>
                <a:lnTo>
                  <a:pt x="0" y="24594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49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53594"/>
            <a:ext cx="16230600" cy="8779811"/>
            <a:chOff x="0" y="0"/>
            <a:chExt cx="4274726" cy="23123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312378"/>
            </a:xfrm>
            <a:custGeom>
              <a:avLst/>
              <a:gdLst/>
              <a:ahLst/>
              <a:cxnLst/>
              <a:rect r="r" b="b" t="t" l="l"/>
              <a:pathLst>
                <a:path h="231237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12378"/>
                  </a:lnTo>
                  <a:lnTo>
                    <a:pt x="0" y="2312378"/>
                  </a:lnTo>
                  <a:close/>
                </a:path>
              </a:pathLst>
            </a:custGeom>
            <a:solidFill>
              <a:srgbClr val="FDDF9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350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22983" y="2643441"/>
            <a:ext cx="14246398" cy="263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Library system is installed in the college computer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Librarian starts using it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16387" y="1141340"/>
            <a:ext cx="8655225" cy="1021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364968"/>
                </a:solidFill>
                <a:latin typeface="Cooper BT Heavy"/>
                <a:ea typeface="Cooper BT Heavy"/>
                <a:cs typeface="Cooper BT Heavy"/>
                <a:sym typeface="Cooper BT Heavy"/>
              </a:rPr>
              <a:t>Example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4480706" y="7396290"/>
            <a:ext cx="6655999" cy="6595490"/>
          </a:xfrm>
          <a:custGeom>
            <a:avLst/>
            <a:gdLst/>
            <a:ahLst/>
            <a:cxnLst/>
            <a:rect r="r" b="b" t="t" l="l"/>
            <a:pathLst>
              <a:path h="6595490" w="6655999">
                <a:moveTo>
                  <a:pt x="0" y="0"/>
                </a:moveTo>
                <a:lnTo>
                  <a:pt x="6655999" y="0"/>
                </a:lnTo>
                <a:lnTo>
                  <a:pt x="6655999" y="6595490"/>
                </a:lnTo>
                <a:lnTo>
                  <a:pt x="0" y="65954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93684" y="-4410929"/>
            <a:ext cx="6771184" cy="6709628"/>
          </a:xfrm>
          <a:custGeom>
            <a:avLst/>
            <a:gdLst/>
            <a:ahLst/>
            <a:cxnLst/>
            <a:rect r="r" b="b" t="t" l="l"/>
            <a:pathLst>
              <a:path h="6709628" w="6771184">
                <a:moveTo>
                  <a:pt x="0" y="0"/>
                </a:moveTo>
                <a:lnTo>
                  <a:pt x="6771185" y="0"/>
                </a:lnTo>
                <a:lnTo>
                  <a:pt x="6771185" y="6709628"/>
                </a:lnTo>
                <a:lnTo>
                  <a:pt x="0" y="6709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3850762" y="7877851"/>
            <a:ext cx="4437238" cy="2459417"/>
          </a:xfrm>
          <a:custGeom>
            <a:avLst/>
            <a:gdLst/>
            <a:ahLst/>
            <a:cxnLst/>
            <a:rect r="r" b="b" t="t" l="l"/>
            <a:pathLst>
              <a:path h="2459417" w="4437238">
                <a:moveTo>
                  <a:pt x="4437238" y="2459417"/>
                </a:moveTo>
                <a:lnTo>
                  <a:pt x="0" y="2459417"/>
                </a:lnTo>
                <a:lnTo>
                  <a:pt x="0" y="0"/>
                </a:lnTo>
                <a:lnTo>
                  <a:pt x="4437238" y="0"/>
                </a:lnTo>
                <a:lnTo>
                  <a:pt x="4437238" y="245941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-57150"/>
            <a:ext cx="4437238" cy="2459417"/>
          </a:xfrm>
          <a:custGeom>
            <a:avLst/>
            <a:gdLst/>
            <a:ahLst/>
            <a:cxnLst/>
            <a:rect r="r" b="b" t="t" l="l"/>
            <a:pathLst>
              <a:path h="2459417" w="4437238">
                <a:moveTo>
                  <a:pt x="0" y="0"/>
                </a:moveTo>
                <a:lnTo>
                  <a:pt x="4437238" y="0"/>
                </a:lnTo>
                <a:lnTo>
                  <a:pt x="4437238" y="2459417"/>
                </a:lnTo>
                <a:lnTo>
                  <a:pt x="0" y="24594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49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53594"/>
            <a:ext cx="16230600" cy="8779811"/>
            <a:chOff x="0" y="0"/>
            <a:chExt cx="4274726" cy="23123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312378"/>
            </a:xfrm>
            <a:custGeom>
              <a:avLst/>
              <a:gdLst/>
              <a:ahLst/>
              <a:cxnLst/>
              <a:rect r="r" b="b" t="t" l="l"/>
              <a:pathLst>
                <a:path h="231237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12378"/>
                  </a:lnTo>
                  <a:lnTo>
                    <a:pt x="0" y="2312378"/>
                  </a:lnTo>
                  <a:close/>
                </a:path>
              </a:pathLst>
            </a:custGeom>
            <a:solidFill>
              <a:srgbClr val="FDDF9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350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22983" y="2643441"/>
            <a:ext cx="14246398" cy="440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Fixes bugs found after deployment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Improves performance and features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Ongoing process throughout software life</a:t>
            </a:r>
          </a:p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364968"/>
                </a:solidFill>
                <a:latin typeface="TT Hoves Bold"/>
                <a:ea typeface="TT Hoves Bold"/>
                <a:cs typeface="TT Hoves Bold"/>
                <a:sym typeface="TT Hoves Bold"/>
              </a:rPr>
              <a:t>What happens here?</a:t>
            </a:r>
          </a:p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     Fix issues and add small improvements.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16387" y="1141340"/>
            <a:ext cx="8655225" cy="1021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364968"/>
                </a:solidFill>
                <a:latin typeface="Cooper BT Heavy"/>
                <a:ea typeface="Cooper BT Heavy"/>
                <a:cs typeface="Cooper BT Heavy"/>
                <a:sym typeface="Cooper BT Heavy"/>
              </a:rPr>
              <a:t>Maintenance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4480706" y="7396290"/>
            <a:ext cx="6655999" cy="6595490"/>
          </a:xfrm>
          <a:custGeom>
            <a:avLst/>
            <a:gdLst/>
            <a:ahLst/>
            <a:cxnLst/>
            <a:rect r="r" b="b" t="t" l="l"/>
            <a:pathLst>
              <a:path h="6595490" w="6655999">
                <a:moveTo>
                  <a:pt x="0" y="0"/>
                </a:moveTo>
                <a:lnTo>
                  <a:pt x="6655999" y="0"/>
                </a:lnTo>
                <a:lnTo>
                  <a:pt x="6655999" y="6595490"/>
                </a:lnTo>
                <a:lnTo>
                  <a:pt x="0" y="65954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93684" y="-4410929"/>
            <a:ext cx="6771184" cy="6709628"/>
          </a:xfrm>
          <a:custGeom>
            <a:avLst/>
            <a:gdLst/>
            <a:ahLst/>
            <a:cxnLst/>
            <a:rect r="r" b="b" t="t" l="l"/>
            <a:pathLst>
              <a:path h="6709628" w="6771184">
                <a:moveTo>
                  <a:pt x="0" y="0"/>
                </a:moveTo>
                <a:lnTo>
                  <a:pt x="6771185" y="0"/>
                </a:lnTo>
                <a:lnTo>
                  <a:pt x="6771185" y="6709628"/>
                </a:lnTo>
                <a:lnTo>
                  <a:pt x="0" y="6709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3850762" y="7877851"/>
            <a:ext cx="4437238" cy="2459417"/>
          </a:xfrm>
          <a:custGeom>
            <a:avLst/>
            <a:gdLst/>
            <a:ahLst/>
            <a:cxnLst/>
            <a:rect r="r" b="b" t="t" l="l"/>
            <a:pathLst>
              <a:path h="2459417" w="4437238">
                <a:moveTo>
                  <a:pt x="4437238" y="2459417"/>
                </a:moveTo>
                <a:lnTo>
                  <a:pt x="0" y="2459417"/>
                </a:lnTo>
                <a:lnTo>
                  <a:pt x="0" y="0"/>
                </a:lnTo>
                <a:lnTo>
                  <a:pt x="4437238" y="0"/>
                </a:lnTo>
                <a:lnTo>
                  <a:pt x="4437238" y="245941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-57150"/>
            <a:ext cx="4437238" cy="2459417"/>
          </a:xfrm>
          <a:custGeom>
            <a:avLst/>
            <a:gdLst/>
            <a:ahLst/>
            <a:cxnLst/>
            <a:rect r="r" b="b" t="t" l="l"/>
            <a:pathLst>
              <a:path h="2459417" w="4437238">
                <a:moveTo>
                  <a:pt x="0" y="0"/>
                </a:moveTo>
                <a:lnTo>
                  <a:pt x="4437238" y="0"/>
                </a:lnTo>
                <a:lnTo>
                  <a:pt x="4437238" y="2459417"/>
                </a:lnTo>
                <a:lnTo>
                  <a:pt x="0" y="24594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49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53594"/>
            <a:ext cx="16230600" cy="8779811"/>
            <a:chOff x="0" y="0"/>
            <a:chExt cx="4274726" cy="23123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312378"/>
            </a:xfrm>
            <a:custGeom>
              <a:avLst/>
              <a:gdLst/>
              <a:ahLst/>
              <a:cxnLst/>
              <a:rect r="r" b="b" t="t" l="l"/>
              <a:pathLst>
                <a:path h="231237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12378"/>
                  </a:lnTo>
                  <a:lnTo>
                    <a:pt x="0" y="2312378"/>
                  </a:lnTo>
                  <a:close/>
                </a:path>
              </a:pathLst>
            </a:custGeom>
            <a:solidFill>
              <a:srgbClr val="FDDF9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350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22983" y="2643441"/>
            <a:ext cx="14246398" cy="352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Fix bugs if found</a:t>
            </a:r>
          </a:p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Add new feature like: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Fine calculation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Online book reservation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16387" y="1141340"/>
            <a:ext cx="8655225" cy="1021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364968"/>
                </a:solidFill>
                <a:latin typeface="Cooper BT Heavy"/>
                <a:ea typeface="Cooper BT Heavy"/>
                <a:cs typeface="Cooper BT Heavy"/>
                <a:sym typeface="Cooper BT Heavy"/>
              </a:rPr>
              <a:t>Example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4480706" y="7396290"/>
            <a:ext cx="6655999" cy="6595490"/>
          </a:xfrm>
          <a:custGeom>
            <a:avLst/>
            <a:gdLst/>
            <a:ahLst/>
            <a:cxnLst/>
            <a:rect r="r" b="b" t="t" l="l"/>
            <a:pathLst>
              <a:path h="6595490" w="6655999">
                <a:moveTo>
                  <a:pt x="0" y="0"/>
                </a:moveTo>
                <a:lnTo>
                  <a:pt x="6655999" y="0"/>
                </a:lnTo>
                <a:lnTo>
                  <a:pt x="6655999" y="6595490"/>
                </a:lnTo>
                <a:lnTo>
                  <a:pt x="0" y="65954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93684" y="-4410929"/>
            <a:ext cx="6771184" cy="6709628"/>
          </a:xfrm>
          <a:custGeom>
            <a:avLst/>
            <a:gdLst/>
            <a:ahLst/>
            <a:cxnLst/>
            <a:rect r="r" b="b" t="t" l="l"/>
            <a:pathLst>
              <a:path h="6709628" w="6771184">
                <a:moveTo>
                  <a:pt x="0" y="0"/>
                </a:moveTo>
                <a:lnTo>
                  <a:pt x="6771185" y="0"/>
                </a:lnTo>
                <a:lnTo>
                  <a:pt x="6771185" y="6709628"/>
                </a:lnTo>
                <a:lnTo>
                  <a:pt x="0" y="6709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3850762" y="7877851"/>
            <a:ext cx="4437238" cy="2459417"/>
          </a:xfrm>
          <a:custGeom>
            <a:avLst/>
            <a:gdLst/>
            <a:ahLst/>
            <a:cxnLst/>
            <a:rect r="r" b="b" t="t" l="l"/>
            <a:pathLst>
              <a:path h="2459417" w="4437238">
                <a:moveTo>
                  <a:pt x="4437238" y="2459417"/>
                </a:moveTo>
                <a:lnTo>
                  <a:pt x="0" y="2459417"/>
                </a:lnTo>
                <a:lnTo>
                  <a:pt x="0" y="0"/>
                </a:lnTo>
                <a:lnTo>
                  <a:pt x="4437238" y="0"/>
                </a:lnTo>
                <a:lnTo>
                  <a:pt x="4437238" y="245941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-57150"/>
            <a:ext cx="4437238" cy="2459417"/>
          </a:xfrm>
          <a:custGeom>
            <a:avLst/>
            <a:gdLst/>
            <a:ahLst/>
            <a:cxnLst/>
            <a:rect r="r" b="b" t="t" l="l"/>
            <a:pathLst>
              <a:path h="2459417" w="4437238">
                <a:moveTo>
                  <a:pt x="0" y="0"/>
                </a:moveTo>
                <a:lnTo>
                  <a:pt x="4437238" y="0"/>
                </a:lnTo>
                <a:lnTo>
                  <a:pt x="4437238" y="2459417"/>
                </a:lnTo>
                <a:lnTo>
                  <a:pt x="0" y="24594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49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53594"/>
            <a:ext cx="16230600" cy="8779811"/>
            <a:chOff x="0" y="0"/>
            <a:chExt cx="4274726" cy="23123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312378"/>
            </a:xfrm>
            <a:custGeom>
              <a:avLst/>
              <a:gdLst/>
              <a:ahLst/>
              <a:cxnLst/>
              <a:rect r="r" b="b" t="t" l="l"/>
              <a:pathLst>
                <a:path h="231237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12378"/>
                  </a:lnTo>
                  <a:lnTo>
                    <a:pt x="0" y="2312378"/>
                  </a:lnTo>
                  <a:close/>
                </a:path>
              </a:pathLst>
            </a:custGeom>
            <a:solidFill>
              <a:srgbClr val="FDDF9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350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22983" y="3086354"/>
            <a:ext cx="14246398" cy="352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Simple and easy to understand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Well-structured and disciplined approach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Clear documentation at every stage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Easy to manage due to fixed phases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13605" y="972669"/>
            <a:ext cx="15665154" cy="197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364968"/>
                </a:solidFill>
                <a:latin typeface="Cooper BT Heavy"/>
                <a:ea typeface="Cooper BT Heavy"/>
                <a:cs typeface="Cooper BT Heavy"/>
                <a:sym typeface="Cooper BT Heavy"/>
              </a:rPr>
              <a:t>Advantages of Waterfall Model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4480706" y="7396290"/>
            <a:ext cx="6655999" cy="6595490"/>
          </a:xfrm>
          <a:custGeom>
            <a:avLst/>
            <a:gdLst/>
            <a:ahLst/>
            <a:cxnLst/>
            <a:rect r="r" b="b" t="t" l="l"/>
            <a:pathLst>
              <a:path h="6595490" w="6655999">
                <a:moveTo>
                  <a:pt x="0" y="0"/>
                </a:moveTo>
                <a:lnTo>
                  <a:pt x="6655999" y="0"/>
                </a:lnTo>
                <a:lnTo>
                  <a:pt x="6655999" y="6595490"/>
                </a:lnTo>
                <a:lnTo>
                  <a:pt x="0" y="65954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93684" y="-4410929"/>
            <a:ext cx="6771184" cy="6709628"/>
          </a:xfrm>
          <a:custGeom>
            <a:avLst/>
            <a:gdLst/>
            <a:ahLst/>
            <a:cxnLst/>
            <a:rect r="r" b="b" t="t" l="l"/>
            <a:pathLst>
              <a:path h="6709628" w="6771184">
                <a:moveTo>
                  <a:pt x="0" y="0"/>
                </a:moveTo>
                <a:lnTo>
                  <a:pt x="6771185" y="0"/>
                </a:lnTo>
                <a:lnTo>
                  <a:pt x="6771185" y="6709628"/>
                </a:lnTo>
                <a:lnTo>
                  <a:pt x="0" y="6709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3850762" y="7877851"/>
            <a:ext cx="4437238" cy="2459417"/>
          </a:xfrm>
          <a:custGeom>
            <a:avLst/>
            <a:gdLst/>
            <a:ahLst/>
            <a:cxnLst/>
            <a:rect r="r" b="b" t="t" l="l"/>
            <a:pathLst>
              <a:path h="2459417" w="4437238">
                <a:moveTo>
                  <a:pt x="4437238" y="2459417"/>
                </a:moveTo>
                <a:lnTo>
                  <a:pt x="0" y="2459417"/>
                </a:lnTo>
                <a:lnTo>
                  <a:pt x="0" y="0"/>
                </a:lnTo>
                <a:lnTo>
                  <a:pt x="4437238" y="0"/>
                </a:lnTo>
                <a:lnTo>
                  <a:pt x="4437238" y="245941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-57150"/>
            <a:ext cx="4437238" cy="2459417"/>
          </a:xfrm>
          <a:custGeom>
            <a:avLst/>
            <a:gdLst/>
            <a:ahLst/>
            <a:cxnLst/>
            <a:rect r="r" b="b" t="t" l="l"/>
            <a:pathLst>
              <a:path h="2459417" w="4437238">
                <a:moveTo>
                  <a:pt x="0" y="0"/>
                </a:moveTo>
                <a:lnTo>
                  <a:pt x="4437238" y="0"/>
                </a:lnTo>
                <a:lnTo>
                  <a:pt x="4437238" y="2459417"/>
                </a:lnTo>
                <a:lnTo>
                  <a:pt x="0" y="24594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49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53594"/>
            <a:ext cx="16230600" cy="8779811"/>
            <a:chOff x="0" y="0"/>
            <a:chExt cx="4274726" cy="23123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312378"/>
            </a:xfrm>
            <a:custGeom>
              <a:avLst/>
              <a:gdLst/>
              <a:ahLst/>
              <a:cxnLst/>
              <a:rect r="r" b="b" t="t" l="l"/>
              <a:pathLst>
                <a:path h="231237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12378"/>
                  </a:lnTo>
                  <a:lnTo>
                    <a:pt x="0" y="2312378"/>
                  </a:lnTo>
                  <a:close/>
                </a:path>
              </a:pathLst>
            </a:custGeom>
            <a:solidFill>
              <a:srgbClr val="FDDF9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350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22983" y="3470951"/>
            <a:ext cx="14246398" cy="352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Not flexible to changes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Testing is done late in the process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High risk for long and complex projects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Customer feedback comes very late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72669"/>
            <a:ext cx="16004409" cy="197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364968"/>
                </a:solidFill>
                <a:latin typeface="Cooper BT Heavy"/>
                <a:ea typeface="Cooper BT Heavy"/>
                <a:cs typeface="Cooper BT Heavy"/>
                <a:sym typeface="Cooper BT Heavy"/>
              </a:rPr>
              <a:t>Disadvantages of Waterfall Model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4480706" y="7396290"/>
            <a:ext cx="6655999" cy="6595490"/>
          </a:xfrm>
          <a:custGeom>
            <a:avLst/>
            <a:gdLst/>
            <a:ahLst/>
            <a:cxnLst/>
            <a:rect r="r" b="b" t="t" l="l"/>
            <a:pathLst>
              <a:path h="6595490" w="6655999">
                <a:moveTo>
                  <a:pt x="0" y="0"/>
                </a:moveTo>
                <a:lnTo>
                  <a:pt x="6655999" y="0"/>
                </a:lnTo>
                <a:lnTo>
                  <a:pt x="6655999" y="6595490"/>
                </a:lnTo>
                <a:lnTo>
                  <a:pt x="0" y="65954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93684" y="-4410929"/>
            <a:ext cx="6771184" cy="6709628"/>
          </a:xfrm>
          <a:custGeom>
            <a:avLst/>
            <a:gdLst/>
            <a:ahLst/>
            <a:cxnLst/>
            <a:rect r="r" b="b" t="t" l="l"/>
            <a:pathLst>
              <a:path h="6709628" w="6771184">
                <a:moveTo>
                  <a:pt x="0" y="0"/>
                </a:moveTo>
                <a:lnTo>
                  <a:pt x="6771185" y="0"/>
                </a:lnTo>
                <a:lnTo>
                  <a:pt x="6771185" y="6709628"/>
                </a:lnTo>
                <a:lnTo>
                  <a:pt x="0" y="6709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3850762" y="7877851"/>
            <a:ext cx="4437238" cy="2459417"/>
          </a:xfrm>
          <a:custGeom>
            <a:avLst/>
            <a:gdLst/>
            <a:ahLst/>
            <a:cxnLst/>
            <a:rect r="r" b="b" t="t" l="l"/>
            <a:pathLst>
              <a:path h="2459417" w="4437238">
                <a:moveTo>
                  <a:pt x="4437238" y="2459417"/>
                </a:moveTo>
                <a:lnTo>
                  <a:pt x="0" y="2459417"/>
                </a:lnTo>
                <a:lnTo>
                  <a:pt x="0" y="0"/>
                </a:lnTo>
                <a:lnTo>
                  <a:pt x="4437238" y="0"/>
                </a:lnTo>
                <a:lnTo>
                  <a:pt x="4437238" y="245941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-57150"/>
            <a:ext cx="4437238" cy="2459417"/>
          </a:xfrm>
          <a:custGeom>
            <a:avLst/>
            <a:gdLst/>
            <a:ahLst/>
            <a:cxnLst/>
            <a:rect r="r" b="b" t="t" l="l"/>
            <a:pathLst>
              <a:path h="2459417" w="4437238">
                <a:moveTo>
                  <a:pt x="0" y="0"/>
                </a:moveTo>
                <a:lnTo>
                  <a:pt x="4437238" y="0"/>
                </a:lnTo>
                <a:lnTo>
                  <a:pt x="4437238" y="2459417"/>
                </a:lnTo>
                <a:lnTo>
                  <a:pt x="0" y="24594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49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53594"/>
            <a:ext cx="16230600" cy="8779811"/>
            <a:chOff x="0" y="0"/>
            <a:chExt cx="4274726" cy="23123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312378"/>
            </a:xfrm>
            <a:custGeom>
              <a:avLst/>
              <a:gdLst/>
              <a:ahLst/>
              <a:cxnLst/>
              <a:rect r="r" b="b" t="t" l="l"/>
              <a:pathLst>
                <a:path h="231237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12378"/>
                  </a:lnTo>
                  <a:lnTo>
                    <a:pt x="0" y="2312378"/>
                  </a:lnTo>
                  <a:close/>
                </a:path>
              </a:pathLst>
            </a:custGeom>
            <a:solidFill>
              <a:srgbClr val="FDDF9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350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92535" y="3444903"/>
            <a:ext cx="14246398" cy="529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Requirements are very clear and fixed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Small-scale projects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Technology is well understood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Low-risk projects</a:t>
            </a:r>
          </a:p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For example, automating a long-standing manual process like LIC's premium collection.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11423" y="1141340"/>
            <a:ext cx="15608623" cy="197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364968"/>
                </a:solidFill>
                <a:latin typeface="Cooper BT Heavy"/>
                <a:ea typeface="Cooper BT Heavy"/>
                <a:cs typeface="Cooper BT Heavy"/>
                <a:sym typeface="Cooper BT Heavy"/>
              </a:rPr>
              <a:t>When to Use Waterfall Model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4480706" y="7396290"/>
            <a:ext cx="6655999" cy="6595490"/>
          </a:xfrm>
          <a:custGeom>
            <a:avLst/>
            <a:gdLst/>
            <a:ahLst/>
            <a:cxnLst/>
            <a:rect r="r" b="b" t="t" l="l"/>
            <a:pathLst>
              <a:path h="6595490" w="6655999">
                <a:moveTo>
                  <a:pt x="0" y="0"/>
                </a:moveTo>
                <a:lnTo>
                  <a:pt x="6655999" y="0"/>
                </a:lnTo>
                <a:lnTo>
                  <a:pt x="6655999" y="6595490"/>
                </a:lnTo>
                <a:lnTo>
                  <a:pt x="0" y="65954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93684" y="-4410929"/>
            <a:ext cx="6771184" cy="6709628"/>
          </a:xfrm>
          <a:custGeom>
            <a:avLst/>
            <a:gdLst/>
            <a:ahLst/>
            <a:cxnLst/>
            <a:rect r="r" b="b" t="t" l="l"/>
            <a:pathLst>
              <a:path h="6709628" w="6771184">
                <a:moveTo>
                  <a:pt x="0" y="0"/>
                </a:moveTo>
                <a:lnTo>
                  <a:pt x="6771185" y="0"/>
                </a:lnTo>
                <a:lnTo>
                  <a:pt x="6771185" y="6709628"/>
                </a:lnTo>
                <a:lnTo>
                  <a:pt x="0" y="6709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3850762" y="7877851"/>
            <a:ext cx="4437238" cy="2459417"/>
          </a:xfrm>
          <a:custGeom>
            <a:avLst/>
            <a:gdLst/>
            <a:ahLst/>
            <a:cxnLst/>
            <a:rect r="r" b="b" t="t" l="l"/>
            <a:pathLst>
              <a:path h="2459417" w="4437238">
                <a:moveTo>
                  <a:pt x="4437238" y="2459417"/>
                </a:moveTo>
                <a:lnTo>
                  <a:pt x="0" y="2459417"/>
                </a:lnTo>
                <a:lnTo>
                  <a:pt x="0" y="0"/>
                </a:lnTo>
                <a:lnTo>
                  <a:pt x="4437238" y="0"/>
                </a:lnTo>
                <a:lnTo>
                  <a:pt x="4437238" y="245941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-57150"/>
            <a:ext cx="4437238" cy="2459417"/>
          </a:xfrm>
          <a:custGeom>
            <a:avLst/>
            <a:gdLst/>
            <a:ahLst/>
            <a:cxnLst/>
            <a:rect r="r" b="b" t="t" l="l"/>
            <a:pathLst>
              <a:path h="2459417" w="4437238">
                <a:moveTo>
                  <a:pt x="0" y="0"/>
                </a:moveTo>
                <a:lnTo>
                  <a:pt x="4437238" y="0"/>
                </a:lnTo>
                <a:lnTo>
                  <a:pt x="4437238" y="2459417"/>
                </a:lnTo>
                <a:lnTo>
                  <a:pt x="0" y="24594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49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53594"/>
            <a:ext cx="16230600" cy="8779811"/>
            <a:chOff x="0" y="0"/>
            <a:chExt cx="4274726" cy="23123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312378"/>
            </a:xfrm>
            <a:custGeom>
              <a:avLst/>
              <a:gdLst/>
              <a:ahLst/>
              <a:cxnLst/>
              <a:rect r="r" b="b" t="t" l="l"/>
              <a:pathLst>
                <a:path h="231237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12378"/>
                  </a:lnTo>
                  <a:lnTo>
                    <a:pt x="0" y="2312378"/>
                  </a:lnTo>
                  <a:close/>
                </a:path>
              </a:pathLst>
            </a:custGeom>
            <a:solidFill>
              <a:srgbClr val="FDDF9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350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85727" y="2910278"/>
            <a:ext cx="15673573" cy="529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Waterfall is sequential; Agile is iterative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Waterfall has fixed requirements; Agile adapts to change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Testing at end vs continuous testing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Waterfall = Plan → Build → Deliver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364968"/>
                </a:solidFill>
                <a:latin typeface="TT Hoves"/>
                <a:ea typeface="TT Hoves"/>
                <a:cs typeface="TT Hoves"/>
                <a:sym typeface="TT Hoves"/>
              </a:rPr>
              <a:t>Agile = Build → Test → Improve continuously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0959" y="1668185"/>
            <a:ext cx="14886082" cy="1021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364968"/>
                </a:solidFill>
                <a:latin typeface="Cooper BT Heavy"/>
                <a:ea typeface="Cooper BT Heavy"/>
                <a:cs typeface="Cooper BT Heavy"/>
                <a:sym typeface="Cooper BT Heavy"/>
              </a:rPr>
              <a:t>Waterfall vs Agile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4480706" y="7396290"/>
            <a:ext cx="6655999" cy="6595490"/>
          </a:xfrm>
          <a:custGeom>
            <a:avLst/>
            <a:gdLst/>
            <a:ahLst/>
            <a:cxnLst/>
            <a:rect r="r" b="b" t="t" l="l"/>
            <a:pathLst>
              <a:path h="6595490" w="6655999">
                <a:moveTo>
                  <a:pt x="0" y="0"/>
                </a:moveTo>
                <a:lnTo>
                  <a:pt x="6655999" y="0"/>
                </a:lnTo>
                <a:lnTo>
                  <a:pt x="6655999" y="6595490"/>
                </a:lnTo>
                <a:lnTo>
                  <a:pt x="0" y="65954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93684" y="-4410929"/>
            <a:ext cx="6771184" cy="6709628"/>
          </a:xfrm>
          <a:custGeom>
            <a:avLst/>
            <a:gdLst/>
            <a:ahLst/>
            <a:cxnLst/>
            <a:rect r="r" b="b" t="t" l="l"/>
            <a:pathLst>
              <a:path h="6709628" w="6771184">
                <a:moveTo>
                  <a:pt x="0" y="0"/>
                </a:moveTo>
                <a:lnTo>
                  <a:pt x="6771185" y="0"/>
                </a:lnTo>
                <a:lnTo>
                  <a:pt x="6771185" y="6709628"/>
                </a:lnTo>
                <a:lnTo>
                  <a:pt x="0" y="6709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3850762" y="7877851"/>
            <a:ext cx="4437238" cy="2459417"/>
          </a:xfrm>
          <a:custGeom>
            <a:avLst/>
            <a:gdLst/>
            <a:ahLst/>
            <a:cxnLst/>
            <a:rect r="r" b="b" t="t" l="l"/>
            <a:pathLst>
              <a:path h="2459417" w="4437238">
                <a:moveTo>
                  <a:pt x="4437238" y="2459417"/>
                </a:moveTo>
                <a:lnTo>
                  <a:pt x="0" y="2459417"/>
                </a:lnTo>
                <a:lnTo>
                  <a:pt x="0" y="0"/>
                </a:lnTo>
                <a:lnTo>
                  <a:pt x="4437238" y="0"/>
                </a:lnTo>
                <a:lnTo>
                  <a:pt x="4437238" y="245941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-57150"/>
            <a:ext cx="4437238" cy="2459417"/>
          </a:xfrm>
          <a:custGeom>
            <a:avLst/>
            <a:gdLst/>
            <a:ahLst/>
            <a:cxnLst/>
            <a:rect r="r" b="b" t="t" l="l"/>
            <a:pathLst>
              <a:path h="2459417" w="4437238">
                <a:moveTo>
                  <a:pt x="0" y="0"/>
                </a:moveTo>
                <a:lnTo>
                  <a:pt x="4437238" y="0"/>
                </a:lnTo>
                <a:lnTo>
                  <a:pt x="4437238" y="2459417"/>
                </a:lnTo>
                <a:lnTo>
                  <a:pt x="0" y="24594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49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53594"/>
            <a:ext cx="16230600" cy="8779811"/>
            <a:chOff x="0" y="0"/>
            <a:chExt cx="4274726" cy="23123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312378"/>
            </a:xfrm>
            <a:custGeom>
              <a:avLst/>
              <a:gdLst/>
              <a:ahLst/>
              <a:cxnLst/>
              <a:rect r="r" b="b" t="t" l="l"/>
              <a:pathLst>
                <a:path h="231237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12378"/>
                  </a:lnTo>
                  <a:lnTo>
                    <a:pt x="0" y="2312378"/>
                  </a:lnTo>
                  <a:close/>
                </a:path>
              </a:pathLst>
            </a:custGeom>
            <a:solidFill>
              <a:srgbClr val="FDDF9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350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866220" y="972669"/>
            <a:ext cx="10605393" cy="1021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364968"/>
                </a:solidFill>
                <a:latin typeface="Cooper BT Heavy"/>
                <a:ea typeface="Cooper BT Heavy"/>
                <a:cs typeface="Cooper BT Heavy"/>
                <a:sym typeface="Cooper BT Heavy"/>
              </a:rPr>
              <a:t>Waterfall vs Agile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4480706" y="7396290"/>
            <a:ext cx="6655999" cy="6595490"/>
          </a:xfrm>
          <a:custGeom>
            <a:avLst/>
            <a:gdLst/>
            <a:ahLst/>
            <a:cxnLst/>
            <a:rect r="r" b="b" t="t" l="l"/>
            <a:pathLst>
              <a:path h="6595490" w="6655999">
                <a:moveTo>
                  <a:pt x="0" y="0"/>
                </a:moveTo>
                <a:lnTo>
                  <a:pt x="6655999" y="0"/>
                </a:lnTo>
                <a:lnTo>
                  <a:pt x="6655999" y="6595490"/>
                </a:lnTo>
                <a:lnTo>
                  <a:pt x="0" y="65954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293684" y="-4410929"/>
            <a:ext cx="6771184" cy="6709628"/>
          </a:xfrm>
          <a:custGeom>
            <a:avLst/>
            <a:gdLst/>
            <a:ahLst/>
            <a:cxnLst/>
            <a:rect r="r" b="b" t="t" l="l"/>
            <a:pathLst>
              <a:path h="6709628" w="6771184">
                <a:moveTo>
                  <a:pt x="0" y="0"/>
                </a:moveTo>
                <a:lnTo>
                  <a:pt x="6771185" y="0"/>
                </a:lnTo>
                <a:lnTo>
                  <a:pt x="6771185" y="6709628"/>
                </a:lnTo>
                <a:lnTo>
                  <a:pt x="0" y="6709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3850762" y="7877851"/>
            <a:ext cx="4437238" cy="2459417"/>
          </a:xfrm>
          <a:custGeom>
            <a:avLst/>
            <a:gdLst/>
            <a:ahLst/>
            <a:cxnLst/>
            <a:rect r="r" b="b" t="t" l="l"/>
            <a:pathLst>
              <a:path h="2459417" w="4437238">
                <a:moveTo>
                  <a:pt x="4437238" y="2459417"/>
                </a:moveTo>
                <a:lnTo>
                  <a:pt x="0" y="2459417"/>
                </a:lnTo>
                <a:lnTo>
                  <a:pt x="0" y="0"/>
                </a:lnTo>
                <a:lnTo>
                  <a:pt x="4437238" y="0"/>
                </a:lnTo>
                <a:lnTo>
                  <a:pt x="4437238" y="245941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-57150"/>
            <a:ext cx="4437238" cy="2459417"/>
          </a:xfrm>
          <a:custGeom>
            <a:avLst/>
            <a:gdLst/>
            <a:ahLst/>
            <a:cxnLst/>
            <a:rect r="r" b="b" t="t" l="l"/>
            <a:pathLst>
              <a:path h="2459417" w="4437238">
                <a:moveTo>
                  <a:pt x="0" y="0"/>
                </a:moveTo>
                <a:lnTo>
                  <a:pt x="4437238" y="0"/>
                </a:lnTo>
                <a:lnTo>
                  <a:pt x="4437238" y="2459417"/>
                </a:lnTo>
                <a:lnTo>
                  <a:pt x="0" y="24594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380058" y="1994385"/>
            <a:ext cx="12913626" cy="7263915"/>
          </a:xfrm>
          <a:custGeom>
            <a:avLst/>
            <a:gdLst/>
            <a:ahLst/>
            <a:cxnLst/>
            <a:rect r="r" b="b" t="t" l="l"/>
            <a:pathLst>
              <a:path h="7263915" w="12913626">
                <a:moveTo>
                  <a:pt x="0" y="0"/>
                </a:moveTo>
                <a:lnTo>
                  <a:pt x="12913626" y="0"/>
                </a:lnTo>
                <a:lnTo>
                  <a:pt x="12913626" y="7263915"/>
                </a:lnTo>
                <a:lnTo>
                  <a:pt x="0" y="72639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49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53594"/>
            <a:ext cx="16230600" cy="8779811"/>
            <a:chOff x="0" y="0"/>
            <a:chExt cx="4274726" cy="23123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312378"/>
            </a:xfrm>
            <a:custGeom>
              <a:avLst/>
              <a:gdLst/>
              <a:ahLst/>
              <a:cxnLst/>
              <a:rect r="r" b="b" t="t" l="l"/>
              <a:pathLst>
                <a:path h="231237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12378"/>
                  </a:lnTo>
                  <a:lnTo>
                    <a:pt x="0" y="2312378"/>
                  </a:lnTo>
                  <a:close/>
                </a:path>
              </a:pathLst>
            </a:custGeom>
            <a:solidFill>
              <a:srgbClr val="FDDF9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350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866220" y="972669"/>
            <a:ext cx="10605393" cy="1021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364968"/>
                </a:solidFill>
                <a:latin typeface="Cooper BT Heavy"/>
                <a:ea typeface="Cooper BT Heavy"/>
                <a:cs typeface="Cooper BT Heavy"/>
                <a:sym typeface="Cooper BT Heavy"/>
              </a:rPr>
              <a:t>Waterfall vs Agile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4480706" y="7396290"/>
            <a:ext cx="6655999" cy="6595490"/>
          </a:xfrm>
          <a:custGeom>
            <a:avLst/>
            <a:gdLst/>
            <a:ahLst/>
            <a:cxnLst/>
            <a:rect r="r" b="b" t="t" l="l"/>
            <a:pathLst>
              <a:path h="6595490" w="6655999">
                <a:moveTo>
                  <a:pt x="0" y="0"/>
                </a:moveTo>
                <a:lnTo>
                  <a:pt x="6655999" y="0"/>
                </a:lnTo>
                <a:lnTo>
                  <a:pt x="6655999" y="6595490"/>
                </a:lnTo>
                <a:lnTo>
                  <a:pt x="0" y="65954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293684" y="-4410929"/>
            <a:ext cx="6771184" cy="6709628"/>
          </a:xfrm>
          <a:custGeom>
            <a:avLst/>
            <a:gdLst/>
            <a:ahLst/>
            <a:cxnLst/>
            <a:rect r="r" b="b" t="t" l="l"/>
            <a:pathLst>
              <a:path h="6709628" w="6771184">
                <a:moveTo>
                  <a:pt x="0" y="0"/>
                </a:moveTo>
                <a:lnTo>
                  <a:pt x="6771185" y="0"/>
                </a:lnTo>
                <a:lnTo>
                  <a:pt x="6771185" y="6709628"/>
                </a:lnTo>
                <a:lnTo>
                  <a:pt x="0" y="6709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3850762" y="7877851"/>
            <a:ext cx="4437238" cy="2459417"/>
          </a:xfrm>
          <a:custGeom>
            <a:avLst/>
            <a:gdLst/>
            <a:ahLst/>
            <a:cxnLst/>
            <a:rect r="r" b="b" t="t" l="l"/>
            <a:pathLst>
              <a:path h="2459417" w="4437238">
                <a:moveTo>
                  <a:pt x="4437238" y="2459417"/>
                </a:moveTo>
                <a:lnTo>
                  <a:pt x="0" y="2459417"/>
                </a:lnTo>
                <a:lnTo>
                  <a:pt x="0" y="0"/>
                </a:lnTo>
                <a:lnTo>
                  <a:pt x="4437238" y="0"/>
                </a:lnTo>
                <a:lnTo>
                  <a:pt x="4437238" y="245941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-57150"/>
            <a:ext cx="4437238" cy="2459417"/>
          </a:xfrm>
          <a:custGeom>
            <a:avLst/>
            <a:gdLst/>
            <a:ahLst/>
            <a:cxnLst/>
            <a:rect r="r" b="b" t="t" l="l"/>
            <a:pathLst>
              <a:path h="2459417" w="4437238">
                <a:moveTo>
                  <a:pt x="0" y="0"/>
                </a:moveTo>
                <a:lnTo>
                  <a:pt x="4437238" y="0"/>
                </a:lnTo>
                <a:lnTo>
                  <a:pt x="4437238" y="2459417"/>
                </a:lnTo>
                <a:lnTo>
                  <a:pt x="0" y="24594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774753" y="2032949"/>
            <a:ext cx="9395967" cy="7074611"/>
          </a:xfrm>
          <a:custGeom>
            <a:avLst/>
            <a:gdLst/>
            <a:ahLst/>
            <a:cxnLst/>
            <a:rect r="r" b="b" t="t" l="l"/>
            <a:pathLst>
              <a:path h="7074611" w="9395967">
                <a:moveTo>
                  <a:pt x="0" y="0"/>
                </a:moveTo>
                <a:lnTo>
                  <a:pt x="9395967" y="0"/>
                </a:lnTo>
                <a:lnTo>
                  <a:pt x="9395967" y="7074611"/>
                </a:lnTo>
                <a:lnTo>
                  <a:pt x="0" y="70746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49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80706" y="6582220"/>
            <a:ext cx="7477537" cy="7409559"/>
          </a:xfrm>
          <a:custGeom>
            <a:avLst/>
            <a:gdLst/>
            <a:ahLst/>
            <a:cxnLst/>
            <a:rect r="r" b="b" t="t" l="l"/>
            <a:pathLst>
              <a:path h="7409559" w="7477537">
                <a:moveTo>
                  <a:pt x="0" y="0"/>
                </a:moveTo>
                <a:lnTo>
                  <a:pt x="7477537" y="0"/>
                </a:lnTo>
                <a:lnTo>
                  <a:pt x="7477537" y="7409560"/>
                </a:lnTo>
                <a:lnTo>
                  <a:pt x="0" y="7409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7331" y="-4410929"/>
            <a:ext cx="7477537" cy="7409559"/>
          </a:xfrm>
          <a:custGeom>
            <a:avLst/>
            <a:gdLst/>
            <a:ahLst/>
            <a:cxnLst/>
            <a:rect r="r" b="b" t="t" l="l"/>
            <a:pathLst>
              <a:path h="7409559" w="7477537">
                <a:moveTo>
                  <a:pt x="0" y="0"/>
                </a:moveTo>
                <a:lnTo>
                  <a:pt x="7477538" y="0"/>
                </a:lnTo>
                <a:lnTo>
                  <a:pt x="7477538" y="7409560"/>
                </a:lnTo>
                <a:lnTo>
                  <a:pt x="0" y="7409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-59793"/>
            <a:ext cx="7315200" cy="4054579"/>
          </a:xfrm>
          <a:custGeom>
            <a:avLst/>
            <a:gdLst/>
            <a:ahLst/>
            <a:cxnLst/>
            <a:rect r="r" b="b" t="t" l="l"/>
            <a:pathLst>
              <a:path h="4054579" w="7315200">
                <a:moveTo>
                  <a:pt x="0" y="0"/>
                </a:moveTo>
                <a:lnTo>
                  <a:pt x="7315200" y="0"/>
                </a:lnTo>
                <a:lnTo>
                  <a:pt x="7315200" y="4054578"/>
                </a:lnTo>
                <a:lnTo>
                  <a:pt x="0" y="40545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407245" y="3734672"/>
            <a:ext cx="9473509" cy="3170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67"/>
              </a:lnSpc>
            </a:pPr>
            <a:r>
              <a:rPr lang="en-US" sz="13008">
                <a:solidFill>
                  <a:srgbClr val="FDDF97"/>
                </a:solidFill>
                <a:latin typeface="Cooper BT Heavy"/>
                <a:ea typeface="Cooper BT Heavy"/>
                <a:cs typeface="Cooper BT Heavy"/>
                <a:sym typeface="Cooper BT Heavy"/>
              </a:rPr>
              <a:t>THANK YOU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0">
            <a:off x="10972800" y="6282690"/>
            <a:ext cx="7315200" cy="4054579"/>
          </a:xfrm>
          <a:custGeom>
            <a:avLst/>
            <a:gdLst/>
            <a:ahLst/>
            <a:cxnLst/>
            <a:rect r="r" b="b" t="t" l="l"/>
            <a:pathLst>
              <a:path h="4054579" w="7315200">
                <a:moveTo>
                  <a:pt x="7315200" y="4054578"/>
                </a:moveTo>
                <a:lnTo>
                  <a:pt x="0" y="4054578"/>
                </a:lnTo>
                <a:lnTo>
                  <a:pt x="0" y="0"/>
                </a:lnTo>
                <a:lnTo>
                  <a:pt x="7315200" y="0"/>
                </a:lnTo>
                <a:lnTo>
                  <a:pt x="7315200" y="405457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DAG7gMX4H4c</dc:identifier>
  <dcterms:modified xsi:type="dcterms:W3CDTF">2011-08-01T06:04:30Z</dcterms:modified>
  <cp:revision>1</cp:revision>
  <dc:title>Orange Blue Abstract Modern Seminar Proposal Presentation</dc:title>
</cp:coreProperties>
</file>